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0" r:id="rId19"/>
    <p:sldId id="271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5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972" autoAdjust="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5671D-68C6-4A27-B7FA-530916BC312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4742E-F434-4AAE-9461-EC2EF3DC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0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04742E-F434-4AAE-9461-EC2EF3DC45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8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7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7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0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9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6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2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8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9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A8D07-A330-4E5F-A3A5-503755597F62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AE92-FA79-4417-AB17-BAFF9B543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1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tm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1160"/>
            <a:ext cx="9144000" cy="2387600"/>
          </a:xfrm>
        </p:spPr>
        <p:txBody>
          <a:bodyPr/>
          <a:lstStyle/>
          <a:p>
            <a:r>
              <a:rPr lang="en-US" dirty="0" smtClean="0"/>
              <a:t>CSE-1</a:t>
            </a:r>
            <a:r>
              <a:rPr lang="en-US" baseline="30000" dirty="0" smtClean="0"/>
              <a:t>st</a:t>
            </a:r>
            <a:r>
              <a:rPr lang="en-US" dirty="0"/>
              <a:t> </a:t>
            </a:r>
            <a:r>
              <a:rPr lang="en-US" dirty="0" smtClean="0"/>
              <a:t>Semester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Programing with C language.</a:t>
            </a:r>
          </a:p>
          <a:p>
            <a:r>
              <a:rPr lang="en-US" dirty="0"/>
              <a:t>C, computer programming language developed in the early 1970s by American computer scientist Dennis M. </a:t>
            </a:r>
            <a:r>
              <a:rPr lang="en-US" dirty="0" smtClean="0"/>
              <a:t>Ritchie.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524000" y="4263081"/>
            <a:ext cx="274320" cy="0"/>
          </a:xfrm>
          <a:prstGeom prst="straightConnector1">
            <a:avLst/>
          </a:prstGeom>
          <a:ln w="9525" cap="rnd" cmpd="sng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00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4206" y="147564"/>
            <a:ext cx="1173891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u="sng" dirty="0" smtClean="0">
                <a:solidFill>
                  <a:srgbClr val="FF0000"/>
                </a:solidFill>
              </a:rPr>
              <a:t>Source code: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Source code is a collection of instructions written in a programming language that a computer can understand and execute. It serves as the human-readable version of a program, allowing developers to write, modify, and maintain software.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0000"/>
                </a:solidFill>
              </a:rPr>
              <a:t>Object </a:t>
            </a:r>
            <a:r>
              <a:rPr lang="en-US" sz="2000" b="1" u="sng" dirty="0" smtClean="0">
                <a:solidFill>
                  <a:srgbClr val="FF0000"/>
                </a:solidFill>
              </a:rPr>
              <a:t>code: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Object code is the machine-readable output generated from source code after it has been compiled. It consists of binary instructions that a computer's processor can execute directly. Object code is typically not human-readable, as it is in a format specific to the target machine's architecture.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u="sng" dirty="0" smtClean="0">
                <a:solidFill>
                  <a:srgbClr val="FF0000"/>
                </a:solidFill>
              </a:rPr>
              <a:t>Translator program: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 translator program is software that converts code written in one programming language into another. There are several types of translator programs: Compiler, Interpreter, Assembler etc.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u="sng" dirty="0" smtClean="0">
                <a:solidFill>
                  <a:srgbClr val="0070C0"/>
                </a:solidFill>
              </a:rPr>
              <a:t>Compiler: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Translates source code (high-level language) into machine code (object code) in one go, producing an executable file. Examples include GCC for C/C++ and </a:t>
            </a:r>
            <a:r>
              <a:rPr lang="en-US" dirty="0" err="1" smtClean="0"/>
              <a:t>javac</a:t>
            </a:r>
            <a:r>
              <a:rPr lang="en-US" dirty="0" smtClean="0"/>
              <a:t> for Java.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u="sng" dirty="0" smtClean="0">
                <a:solidFill>
                  <a:srgbClr val="0070C0"/>
                </a:solidFill>
              </a:rPr>
              <a:t>Interpreter: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Translates and executes source code line-by-line or statement-by-statement at runtime, without producing a separate executable file. Examples include Python's </a:t>
            </a:r>
            <a:r>
              <a:rPr lang="en-US" dirty="0" err="1" smtClean="0"/>
              <a:t>CPython</a:t>
            </a:r>
            <a:r>
              <a:rPr lang="en-US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u="sng" dirty="0" smtClean="0">
                <a:solidFill>
                  <a:srgbClr val="0070C0"/>
                </a:solidFill>
              </a:rPr>
              <a:t>Assembler: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dirty="0" smtClean="0"/>
              <a:t>Converts assembly language code into machine code. Assemblers translate low-level code that is closely related to the architecture of the computer.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u="sng" dirty="0" smtClean="0">
                <a:solidFill>
                  <a:srgbClr val="FF0000"/>
                </a:solidFill>
              </a:rPr>
              <a:t>Programing symbols: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b="1" u="sng" dirty="0" smtClean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52081"/>
              </p:ext>
            </p:extLst>
          </p:nvPr>
        </p:nvGraphicFramePr>
        <p:xfrm>
          <a:off x="3798277" y="4954953"/>
          <a:ext cx="527612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731"/>
                <a:gridCol w="2692393"/>
              </a:tblGrid>
              <a:tr h="33293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Normal 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 operators</a:t>
                      </a:r>
                      <a:endParaRPr lang="en-US" dirty="0"/>
                    </a:p>
                  </a:txBody>
                  <a:tcPr/>
                </a:tc>
              </a:tr>
              <a:tr h="33293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</a:t>
                      </a:r>
                      <a:endParaRPr lang="en-US" dirty="0"/>
                    </a:p>
                  </a:txBody>
                  <a:tcPr/>
                </a:tc>
              </a:tr>
              <a:tr h="33293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3293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</a:tr>
              <a:tr h="332935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59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351" y="142989"/>
            <a:ext cx="11850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Variables: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It is a name of a memory location which stores some data.</a:t>
            </a:r>
          </a:p>
          <a:p>
            <a:r>
              <a:rPr lang="en-US" dirty="0"/>
              <a:t>	</a:t>
            </a:r>
            <a:r>
              <a:rPr lang="en-US" dirty="0" smtClean="0"/>
              <a:t>	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37760" y="692227"/>
            <a:ext cx="5189838" cy="7166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/>
          <p:cNvSpPr/>
          <p:nvPr/>
        </p:nvSpPr>
        <p:spPr>
          <a:xfrm>
            <a:off x="2390614" y="744013"/>
            <a:ext cx="667266" cy="559835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638" y="739740"/>
            <a:ext cx="695004" cy="5852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634" y="731298"/>
            <a:ext cx="695004" cy="5852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58" y="745182"/>
            <a:ext cx="695004" cy="5852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626" y="739740"/>
            <a:ext cx="695004" cy="5852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539" y="739740"/>
            <a:ext cx="695004" cy="5852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452" y="731296"/>
            <a:ext cx="695004" cy="5852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65939" y="839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558852" y="8477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658416" y="832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058721" y="832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7599554" y="893466"/>
            <a:ext cx="978408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724635" y="816907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676660" y="829756"/>
            <a:ext cx="1084874" cy="33778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715185" y="1303847"/>
            <a:ext cx="550" cy="475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408954" y="1303848"/>
            <a:ext cx="13868" cy="475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2"/>
          </p:cNvCxnSpPr>
          <p:nvPr/>
        </p:nvCxnSpPr>
        <p:spPr>
          <a:xfrm flipH="1">
            <a:off x="4816402" y="1325007"/>
            <a:ext cx="6726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200843" y="1325007"/>
            <a:ext cx="6936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76610" y="177937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249742" y="177937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675177" y="177937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061340" y="177937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36" name="Elbow Connector 35"/>
          <p:cNvCxnSpPr/>
          <p:nvPr/>
        </p:nvCxnSpPr>
        <p:spPr>
          <a:xfrm rot="10800000" flipV="1">
            <a:off x="704913" y="1044730"/>
            <a:ext cx="1866874" cy="62343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rot="10800000" flipV="1">
            <a:off x="1631458" y="985798"/>
            <a:ext cx="1595107" cy="682363"/>
          </a:xfrm>
          <a:prstGeom prst="bentConnector3">
            <a:avLst>
              <a:gd name="adj1" fmla="val 816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13" idx="1"/>
          </p:cNvCxnSpPr>
          <p:nvPr/>
        </p:nvCxnSpPr>
        <p:spPr>
          <a:xfrm rot="10800000" flipV="1">
            <a:off x="3105884" y="1017346"/>
            <a:ext cx="1552532" cy="638460"/>
          </a:xfrm>
          <a:prstGeom prst="bentConnector3">
            <a:avLst>
              <a:gd name="adj1" fmla="val 1020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14" idx="1"/>
          </p:cNvCxnSpPr>
          <p:nvPr/>
        </p:nvCxnSpPr>
        <p:spPr>
          <a:xfrm rot="10800000" flipV="1">
            <a:off x="4459971" y="1017345"/>
            <a:ext cx="1598750" cy="627463"/>
          </a:xfrm>
          <a:prstGeom prst="bentConnector3">
            <a:avLst>
              <a:gd name="adj1" fmla="val 1058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1362" y="1483496"/>
            <a:ext cx="633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Data</a:t>
            </a:r>
            <a:endParaRPr lang="en-US" b="1" dirty="0">
              <a:solidFill>
                <a:srgbClr val="92D050"/>
              </a:solidFill>
            </a:endParaRPr>
          </a:p>
        </p:txBody>
      </p:sp>
      <p:cxnSp>
        <p:nvCxnSpPr>
          <p:cNvPr id="50" name="Straight Arrow Connector 49"/>
          <p:cNvCxnSpPr>
            <a:stCxn id="33" idx="2"/>
          </p:cNvCxnSpPr>
          <p:nvPr/>
        </p:nvCxnSpPr>
        <p:spPr>
          <a:xfrm flipH="1">
            <a:off x="4809259" y="2148705"/>
            <a:ext cx="7143" cy="446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>
            <a:off x="2687215" y="2132765"/>
            <a:ext cx="2129187" cy="281827"/>
          </a:xfrm>
          <a:prstGeom prst="bentConnector3">
            <a:avLst>
              <a:gd name="adj1" fmla="val 6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2" idx="2"/>
          </p:cNvCxnSpPr>
          <p:nvPr/>
        </p:nvCxnSpPr>
        <p:spPr>
          <a:xfrm>
            <a:off x="3404592" y="2148705"/>
            <a:ext cx="0" cy="269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34" idx="2"/>
          </p:cNvCxnSpPr>
          <p:nvPr/>
        </p:nvCxnSpPr>
        <p:spPr>
          <a:xfrm rot="5400000">
            <a:off x="5378980" y="1578984"/>
            <a:ext cx="265887" cy="14053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311651" y="2636662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36859" y="2840482"/>
            <a:ext cx="119596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Variables are case sensitive.(b and B are not same)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1st character should be alphabet or ‘_’ (Underscore).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No comma , blanks, dot or any other special character can not be used (</a:t>
            </a:r>
            <a:r>
              <a:rPr lang="en-US" b="1" dirty="0" smtClean="0">
                <a:solidFill>
                  <a:srgbClr val="92D050"/>
                </a:solidFill>
              </a:rPr>
              <a:t>*</a:t>
            </a:r>
            <a:r>
              <a:rPr lang="en-US" dirty="0" smtClean="0"/>
              <a:t> ‘_’).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Variables can change by statements.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Keyword(</a:t>
            </a:r>
            <a:r>
              <a:rPr lang="en-US" dirty="0" err="1" smtClean="0"/>
              <a:t>int</a:t>
            </a:r>
            <a:r>
              <a:rPr lang="en-US" dirty="0" smtClean="0"/>
              <a:t>, double, else, long, short, continue, default, </a:t>
            </a:r>
            <a:r>
              <a:rPr lang="en-US" dirty="0" err="1" smtClean="0"/>
              <a:t>const</a:t>
            </a:r>
            <a:r>
              <a:rPr lang="en-US" dirty="0" smtClean="0"/>
              <a:t>, do, </a:t>
            </a:r>
            <a:r>
              <a:rPr lang="en-US" dirty="0" err="1" smtClean="0"/>
              <a:t>sizeof</a:t>
            </a:r>
            <a:r>
              <a:rPr lang="en-US" dirty="0" smtClean="0"/>
              <a:t>, </a:t>
            </a:r>
            <a:r>
              <a:rPr lang="en-US" dirty="0" err="1" smtClean="0"/>
              <a:t>goto</a:t>
            </a:r>
            <a:r>
              <a:rPr lang="en-US" dirty="0" smtClean="0"/>
              <a:t>, switch, for etc.) can’t be used as a variable.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u="sng" dirty="0" smtClean="0">
                <a:solidFill>
                  <a:srgbClr val="0070C0"/>
                </a:solidFill>
              </a:rPr>
              <a:t>Variable type</a:t>
            </a:r>
            <a:r>
              <a:rPr lang="en-US" u="sng" dirty="0" smtClean="0">
                <a:solidFill>
                  <a:schemeClr val="accent5">
                    <a:lumMod val="75000"/>
                  </a:schemeClr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63069"/>
              </p:ext>
            </p:extLst>
          </p:nvPr>
        </p:nvGraphicFramePr>
        <p:xfrm>
          <a:off x="1752938" y="4672907"/>
          <a:ext cx="8128001" cy="1371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1354667"/>
                <a:gridCol w="1354667"/>
                <a:gridCol w="1354667"/>
                <a:gridCol w="1354667"/>
              </a:tblGrid>
              <a:tr h="45719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Fraction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Character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199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double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719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%d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%f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%lf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%c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%s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9" name="Straight Arrow Connector 68"/>
          <p:cNvCxnSpPr/>
          <p:nvPr/>
        </p:nvCxnSpPr>
        <p:spPr>
          <a:xfrm>
            <a:off x="7788164" y="5943600"/>
            <a:ext cx="0" cy="41801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7261398" y="6361612"/>
            <a:ext cx="1053533" cy="464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 1 letter</a:t>
            </a:r>
            <a:endParaRPr lang="en-US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675" y="5943600"/>
            <a:ext cx="231668" cy="530398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557255" y="6361612"/>
            <a:ext cx="1323684" cy="4648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 multiple letter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9880939" y="5702308"/>
            <a:ext cx="515391" cy="1907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0464022" y="5530271"/>
            <a:ext cx="1372623" cy="534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Format specifier</a:t>
            </a:r>
            <a:endParaRPr lang="en-US" dirty="0"/>
          </a:p>
        </p:txBody>
      </p:sp>
      <p:cxnSp>
        <p:nvCxnSpPr>
          <p:cNvPr id="22" name="Elbow Connector 21"/>
          <p:cNvCxnSpPr/>
          <p:nvPr/>
        </p:nvCxnSpPr>
        <p:spPr>
          <a:xfrm rot="10800000" flipV="1">
            <a:off x="6818244" y="5836010"/>
            <a:ext cx="781311" cy="63798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48622" y="6270945"/>
            <a:ext cx="1721236" cy="379271"/>
          </a:xfrm>
          <a:custGeom>
            <a:avLst/>
            <a:gdLst>
              <a:gd name="connsiteX0" fmla="*/ 0 w 1741114"/>
              <a:gd name="connsiteY0" fmla="*/ 0 h 369332"/>
              <a:gd name="connsiteX1" fmla="*/ 1741114 w 1741114"/>
              <a:gd name="connsiteY1" fmla="*/ 0 h 369332"/>
              <a:gd name="connsiteX2" fmla="*/ 1741114 w 1741114"/>
              <a:gd name="connsiteY2" fmla="*/ 369332 h 369332"/>
              <a:gd name="connsiteX3" fmla="*/ 0 w 1741114"/>
              <a:gd name="connsiteY3" fmla="*/ 369332 h 369332"/>
              <a:gd name="connsiteX4" fmla="*/ 0 w 1741114"/>
              <a:gd name="connsiteY4" fmla="*/ 0 h 369332"/>
              <a:gd name="connsiteX0" fmla="*/ 0 w 1920018"/>
              <a:gd name="connsiteY0" fmla="*/ 0 h 369332"/>
              <a:gd name="connsiteX1" fmla="*/ 1741114 w 1920018"/>
              <a:gd name="connsiteY1" fmla="*/ 0 h 369332"/>
              <a:gd name="connsiteX2" fmla="*/ 1920018 w 1920018"/>
              <a:gd name="connsiteY2" fmla="*/ 339515 h 369332"/>
              <a:gd name="connsiteX3" fmla="*/ 0 w 1920018"/>
              <a:gd name="connsiteY3" fmla="*/ 369332 h 369332"/>
              <a:gd name="connsiteX4" fmla="*/ 0 w 1920018"/>
              <a:gd name="connsiteY4" fmla="*/ 0 h 369332"/>
              <a:gd name="connsiteX0" fmla="*/ 0 w 1929957"/>
              <a:gd name="connsiteY0" fmla="*/ 29817 h 399149"/>
              <a:gd name="connsiteX1" fmla="*/ 1929957 w 1929957"/>
              <a:gd name="connsiteY1" fmla="*/ 0 h 399149"/>
              <a:gd name="connsiteX2" fmla="*/ 1920018 w 1929957"/>
              <a:gd name="connsiteY2" fmla="*/ 369332 h 399149"/>
              <a:gd name="connsiteX3" fmla="*/ 0 w 1929957"/>
              <a:gd name="connsiteY3" fmla="*/ 399149 h 399149"/>
              <a:gd name="connsiteX4" fmla="*/ 0 w 1929957"/>
              <a:gd name="connsiteY4" fmla="*/ 29817 h 399149"/>
              <a:gd name="connsiteX0" fmla="*/ 0 w 1929957"/>
              <a:gd name="connsiteY0" fmla="*/ 29817 h 389210"/>
              <a:gd name="connsiteX1" fmla="*/ 1929957 w 1929957"/>
              <a:gd name="connsiteY1" fmla="*/ 0 h 389210"/>
              <a:gd name="connsiteX2" fmla="*/ 1920018 w 1929957"/>
              <a:gd name="connsiteY2" fmla="*/ 369332 h 389210"/>
              <a:gd name="connsiteX3" fmla="*/ 258417 w 1929957"/>
              <a:gd name="connsiteY3" fmla="*/ 389210 h 389210"/>
              <a:gd name="connsiteX4" fmla="*/ 0 w 1929957"/>
              <a:gd name="connsiteY4" fmla="*/ 29817 h 389210"/>
              <a:gd name="connsiteX0" fmla="*/ 0 w 1711296"/>
              <a:gd name="connsiteY0" fmla="*/ 39756 h 389210"/>
              <a:gd name="connsiteX1" fmla="*/ 1711296 w 1711296"/>
              <a:gd name="connsiteY1" fmla="*/ 0 h 389210"/>
              <a:gd name="connsiteX2" fmla="*/ 1701357 w 1711296"/>
              <a:gd name="connsiteY2" fmla="*/ 369332 h 389210"/>
              <a:gd name="connsiteX3" fmla="*/ 39756 w 1711296"/>
              <a:gd name="connsiteY3" fmla="*/ 389210 h 389210"/>
              <a:gd name="connsiteX4" fmla="*/ 0 w 1711296"/>
              <a:gd name="connsiteY4" fmla="*/ 39756 h 389210"/>
              <a:gd name="connsiteX0" fmla="*/ 0 w 1701356"/>
              <a:gd name="connsiteY0" fmla="*/ 9938 h 389210"/>
              <a:gd name="connsiteX1" fmla="*/ 1701356 w 1701356"/>
              <a:gd name="connsiteY1" fmla="*/ 0 h 389210"/>
              <a:gd name="connsiteX2" fmla="*/ 1691417 w 1701356"/>
              <a:gd name="connsiteY2" fmla="*/ 369332 h 389210"/>
              <a:gd name="connsiteX3" fmla="*/ 29816 w 1701356"/>
              <a:gd name="connsiteY3" fmla="*/ 389210 h 389210"/>
              <a:gd name="connsiteX4" fmla="*/ 0 w 1701356"/>
              <a:gd name="connsiteY4" fmla="*/ 9938 h 389210"/>
              <a:gd name="connsiteX0" fmla="*/ 19880 w 1721236"/>
              <a:gd name="connsiteY0" fmla="*/ 9938 h 379271"/>
              <a:gd name="connsiteX1" fmla="*/ 1721236 w 1721236"/>
              <a:gd name="connsiteY1" fmla="*/ 0 h 379271"/>
              <a:gd name="connsiteX2" fmla="*/ 1711297 w 1721236"/>
              <a:gd name="connsiteY2" fmla="*/ 369332 h 379271"/>
              <a:gd name="connsiteX3" fmla="*/ 0 w 1721236"/>
              <a:gd name="connsiteY3" fmla="*/ 379271 h 379271"/>
              <a:gd name="connsiteX4" fmla="*/ 19880 w 1721236"/>
              <a:gd name="connsiteY4" fmla="*/ 9938 h 379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1236" h="379271">
                <a:moveTo>
                  <a:pt x="19880" y="9938"/>
                </a:moveTo>
                <a:lnTo>
                  <a:pt x="1721236" y="0"/>
                </a:lnTo>
                <a:lnTo>
                  <a:pt x="1711297" y="369332"/>
                </a:lnTo>
                <a:lnTo>
                  <a:pt x="0" y="379271"/>
                </a:lnTo>
                <a:lnTo>
                  <a:pt x="19880" y="9938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Single cote(‘ ’)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6" name="Elbow Connector 25"/>
          <p:cNvCxnSpPr>
            <a:endCxn id="47" idx="1"/>
          </p:cNvCxnSpPr>
          <p:nvPr/>
        </p:nvCxnSpPr>
        <p:spPr>
          <a:xfrm>
            <a:off x="9357101" y="5797679"/>
            <a:ext cx="993387" cy="7359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350488" y="6348982"/>
            <a:ext cx="170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Double cote(“ ”)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75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676933"/>
              </p:ext>
            </p:extLst>
          </p:nvPr>
        </p:nvGraphicFramePr>
        <p:xfrm>
          <a:off x="272772" y="133257"/>
          <a:ext cx="267915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9575"/>
                <a:gridCol w="1339575"/>
              </a:tblGrid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Byte</a:t>
                      </a:r>
                      <a:endParaRPr lang="en-US" dirty="0"/>
                    </a:p>
                  </a:txBody>
                  <a:tcPr/>
                </a:tc>
              </a:tr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long </a:t>
                      </a:r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double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  <a:tr h="2947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long double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488635" y="133258"/>
            <a:ext cx="8577470" cy="2480733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>
                <a:solidFill>
                  <a:schemeClr val="bg1"/>
                </a:solidFill>
              </a:rPr>
              <a:t>Program structure:</a:t>
            </a:r>
          </a:p>
          <a:p>
            <a:r>
              <a:rPr lang="en-US" dirty="0" smtClean="0"/>
              <a:t>		#</a:t>
            </a:r>
            <a:r>
              <a:rPr lang="en-US" dirty="0"/>
              <a:t>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</a:t>
            </a:r>
            <a:r>
              <a:rPr lang="en-US" dirty="0" smtClean="0"/>
              <a:t>(){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			return </a:t>
            </a:r>
            <a:r>
              <a:rPr lang="en-US" dirty="0"/>
              <a:t>0;</a:t>
            </a:r>
          </a:p>
          <a:p>
            <a:endParaRPr lang="en-US" dirty="0"/>
          </a:p>
          <a:p>
            <a:r>
              <a:rPr lang="en-US" dirty="0" smtClean="0"/>
              <a:t>			}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7161143" y="745436"/>
            <a:ext cx="695740" cy="168964"/>
          </a:xfrm>
          <a:prstGeom prst="rightArrow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856883" y="626166"/>
            <a:ext cx="2693504" cy="4174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Header file / Preprocessor directive.</a:t>
            </a:r>
            <a:endParaRPr lang="en-US" sz="1400" dirty="0"/>
          </a:p>
        </p:txBody>
      </p:sp>
      <p:cxnSp>
        <p:nvCxnSpPr>
          <p:cNvPr id="11" name="Elbow Connector 10"/>
          <p:cNvCxnSpPr/>
          <p:nvPr/>
        </p:nvCxnSpPr>
        <p:spPr>
          <a:xfrm rot="10800000" flipV="1">
            <a:off x="4929809" y="1239482"/>
            <a:ext cx="974035" cy="347870"/>
          </a:xfrm>
          <a:prstGeom prst="bentConnector3">
            <a:avLst>
              <a:gd name="adj1" fmla="val 1020"/>
            </a:avLst>
          </a:prstGeom>
          <a:ln w="25400" cmpd="sng">
            <a:solidFill>
              <a:schemeClr val="accent3">
                <a:lumMod val="20000"/>
                <a:lumOff val="80000"/>
              </a:schemeClr>
            </a:solidFill>
            <a:headEnd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58209" y="1239481"/>
            <a:ext cx="1371600" cy="5992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Main function; all process starts after this.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272772" y="2951923"/>
            <a:ext cx="4860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Comments: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Lines that are not part of program.</a:t>
            </a:r>
            <a:endParaRPr lang="en-US" dirty="0"/>
          </a:p>
        </p:txBody>
      </p:sp>
      <p:cxnSp>
        <p:nvCxnSpPr>
          <p:cNvPr id="16" name="Elbow Connector 15"/>
          <p:cNvCxnSpPr/>
          <p:nvPr/>
        </p:nvCxnSpPr>
        <p:spPr>
          <a:xfrm>
            <a:off x="765313" y="3250096"/>
            <a:ext cx="983974" cy="705678"/>
          </a:xfrm>
          <a:prstGeom prst="bentConnector3">
            <a:avLst>
              <a:gd name="adj1" fmla="val 151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762829" y="3613666"/>
            <a:ext cx="991427" cy="57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49287" y="3327799"/>
            <a:ext cx="401097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Single line comments.(//</a:t>
            </a:r>
            <a:r>
              <a:rPr lang="en-US" dirty="0" smtClean="0">
                <a:solidFill>
                  <a:srgbClr val="FFC000"/>
                </a:solidFill>
              </a:rPr>
              <a:t>comment</a:t>
            </a:r>
            <a:r>
              <a:rPr lang="en-US" dirty="0" smtClean="0"/>
              <a:t>)</a:t>
            </a:r>
          </a:p>
          <a:p>
            <a:r>
              <a:rPr lang="en-US" dirty="0" smtClean="0"/>
              <a:t>Multiple line comments.(/*</a:t>
            </a:r>
            <a:r>
              <a:rPr lang="en-US" dirty="0" smtClean="0">
                <a:solidFill>
                  <a:srgbClr val="FFC000"/>
                </a:solidFill>
              </a:rPr>
              <a:t>comments</a:t>
            </a:r>
            <a:r>
              <a:rPr lang="en-US" dirty="0" smtClean="0"/>
              <a:t>*/)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538912" y="2785380"/>
            <a:ext cx="3164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rgbClr val="00B050"/>
                </a:solidFill>
              </a:rPr>
              <a:t>Line break: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‘ </a:t>
            </a:r>
            <a:r>
              <a:rPr lang="en-US" dirty="0" smtClean="0">
                <a:solidFill>
                  <a:srgbClr val="00B0F0"/>
                </a:solidFill>
              </a:rPr>
              <a:t>\n </a:t>
            </a:r>
            <a:r>
              <a:rPr lang="en-US" dirty="0" smtClean="0"/>
              <a:t>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rgbClr val="00B050"/>
                </a:solidFill>
              </a:rPr>
              <a:t>Input: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‘ </a:t>
            </a:r>
            <a:r>
              <a:rPr lang="en-US" dirty="0" err="1" smtClean="0">
                <a:solidFill>
                  <a:srgbClr val="00B0F0"/>
                </a:solidFill>
              </a:rPr>
              <a:t>scanf</a:t>
            </a:r>
            <a:r>
              <a:rPr lang="en-US" dirty="0" smtClean="0">
                <a:solidFill>
                  <a:srgbClr val="00B0F0"/>
                </a:solidFill>
              </a:rPr>
              <a:t>(“% </a:t>
            </a:r>
            <a:r>
              <a:rPr lang="en-US" dirty="0" err="1" smtClean="0">
                <a:solidFill>
                  <a:srgbClr val="00B0F0"/>
                </a:solidFill>
              </a:rPr>
              <a:t>d”,&amp;s</a:t>
            </a:r>
            <a:r>
              <a:rPr lang="en-US" dirty="0" smtClean="0">
                <a:solidFill>
                  <a:srgbClr val="00B0F0"/>
                </a:solidFill>
              </a:rPr>
              <a:t>); </a:t>
            </a:r>
            <a:r>
              <a:rPr lang="en-US" dirty="0" smtClean="0"/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rgbClr val="00B050"/>
                </a:solidFill>
              </a:rPr>
              <a:t>Output: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‘ </a:t>
            </a:r>
            <a:r>
              <a:rPr lang="en-US" dirty="0" err="1" smtClean="0">
                <a:solidFill>
                  <a:srgbClr val="00B0F0"/>
                </a:solidFill>
              </a:rPr>
              <a:t>printf</a:t>
            </a:r>
            <a:r>
              <a:rPr lang="en-US" dirty="0" smtClean="0">
                <a:solidFill>
                  <a:srgbClr val="00B0F0"/>
                </a:solidFill>
              </a:rPr>
              <a:t>(“__ %d”, s); </a:t>
            </a:r>
            <a:r>
              <a:rPr lang="en-US" dirty="0" smtClean="0"/>
              <a:t>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2772" y="4056975"/>
            <a:ext cx="1491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Operators:</a:t>
            </a:r>
            <a:endParaRPr lang="en-US" b="1" u="sng" dirty="0">
              <a:solidFill>
                <a:srgbClr val="FF0000"/>
              </a:solidFill>
            </a:endParaRPr>
          </a:p>
        </p:txBody>
      </p:sp>
      <p:cxnSp>
        <p:nvCxnSpPr>
          <p:cNvPr id="62" name="Straight Connector 61"/>
          <p:cNvCxnSpPr>
            <a:endCxn id="70" idx="1"/>
          </p:cNvCxnSpPr>
          <p:nvPr/>
        </p:nvCxnSpPr>
        <p:spPr>
          <a:xfrm>
            <a:off x="427383" y="4426307"/>
            <a:ext cx="6940" cy="201024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427383" y="4641574"/>
            <a:ext cx="3354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5284256"/>
            <a:ext cx="420660" cy="164606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4943301"/>
            <a:ext cx="420660" cy="164606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5668285"/>
            <a:ext cx="420660" cy="164606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83" y="6105096"/>
            <a:ext cx="420660" cy="91403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3" y="6354245"/>
            <a:ext cx="420660" cy="16460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62829" y="4432650"/>
            <a:ext cx="3272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Arithmetic operator: +, -, *, /, % 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762829" y="4856842"/>
            <a:ext cx="393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Relational operator: ==, &gt;, &gt;= ,  &lt;, &lt;= , !=</a:t>
            </a:r>
            <a:endParaRPr lang="en-US" dirty="0"/>
          </a:p>
        </p:txBody>
      </p:sp>
      <p:sp>
        <p:nvSpPr>
          <p:cNvPr id="73" name="Rectangle 72"/>
          <p:cNvSpPr/>
          <p:nvPr/>
        </p:nvSpPr>
        <p:spPr>
          <a:xfrm>
            <a:off x="3071191" y="4924072"/>
            <a:ext cx="487018" cy="30210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774" y="4924072"/>
            <a:ext cx="499915" cy="31092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761623" y="5203430"/>
            <a:ext cx="263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Logical operator: &amp;&amp;, ||, !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741138" y="5557500"/>
            <a:ext cx="5662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Assignment operator: =, +=, -=, *=, /=, %= (a =</a:t>
            </a:r>
            <a:r>
              <a:rPr lang="en-US" dirty="0" err="1" smtClean="0"/>
              <a:t>a%b</a:t>
            </a:r>
            <a:r>
              <a:rPr lang="en-US" dirty="0"/>
              <a:t> </a:t>
            </a:r>
            <a:r>
              <a:rPr lang="en-US" dirty="0" smtClean="0"/>
              <a:t>    a%=b)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741138" y="5961589"/>
            <a:ext cx="592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Bitwise operator: Operator that is used for bit number(0,1).  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55949" y="6239218"/>
            <a:ext cx="5895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Ternary operator: Also called as conditional operator, is </a:t>
            </a:r>
            <a:r>
              <a:rPr lang="en-US" dirty="0"/>
              <a:t>used </a:t>
            </a:r>
            <a:br>
              <a:rPr lang="en-US" dirty="0"/>
            </a:br>
            <a:r>
              <a:rPr lang="en-US" dirty="0"/>
              <a:t>instead </a:t>
            </a:r>
            <a:r>
              <a:rPr lang="en-US" dirty="0" smtClean="0"/>
              <a:t>of  “if….else”.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522487" y="3815245"/>
            <a:ext cx="49049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Operators Precedence</a:t>
            </a:r>
            <a:r>
              <a:rPr lang="en-US" dirty="0" smtClean="0"/>
              <a:t>:(Priority wise)</a:t>
            </a:r>
          </a:p>
          <a:p>
            <a:r>
              <a:rPr lang="en-US" dirty="0" smtClean="0"/>
              <a:t>	     !</a:t>
            </a:r>
          </a:p>
          <a:p>
            <a:r>
              <a:rPr lang="en-US" dirty="0"/>
              <a:t>	</a:t>
            </a:r>
            <a:r>
              <a:rPr lang="en-US" dirty="0" smtClean="0"/>
              <a:t>  *,/,%</a:t>
            </a:r>
          </a:p>
          <a:p>
            <a:r>
              <a:rPr lang="en-US" dirty="0"/>
              <a:t>	</a:t>
            </a:r>
            <a:r>
              <a:rPr lang="en-US" dirty="0" smtClean="0"/>
              <a:t>    +,-</a:t>
            </a:r>
          </a:p>
          <a:p>
            <a:r>
              <a:rPr lang="en-US" dirty="0"/>
              <a:t>	</a:t>
            </a:r>
            <a:r>
              <a:rPr lang="en-US" dirty="0" smtClean="0"/>
              <a:t>&lt;,&lt;=,&gt;,&gt;=</a:t>
            </a:r>
          </a:p>
          <a:p>
            <a:r>
              <a:rPr lang="en-US" dirty="0"/>
              <a:t>	</a:t>
            </a:r>
            <a:r>
              <a:rPr lang="en-US" dirty="0" smtClean="0"/>
              <a:t>   ==,!=</a:t>
            </a:r>
          </a:p>
          <a:p>
            <a:r>
              <a:rPr lang="en-US" dirty="0"/>
              <a:t>	</a:t>
            </a:r>
            <a:r>
              <a:rPr lang="en-US" dirty="0" smtClean="0"/>
              <a:t>    &amp;&amp;</a:t>
            </a:r>
          </a:p>
          <a:p>
            <a:r>
              <a:rPr lang="en-US" dirty="0" smtClean="0"/>
              <a:t>	     ||</a:t>
            </a:r>
          </a:p>
          <a:p>
            <a:r>
              <a:rPr lang="en-US" dirty="0" smtClean="0"/>
              <a:t>	      =</a:t>
            </a:r>
            <a:endParaRPr lang="en-US" dirty="0"/>
          </a:p>
        </p:txBody>
      </p:sp>
      <p:sp>
        <p:nvSpPr>
          <p:cNvPr id="3" name="Down Arrow 2"/>
          <p:cNvSpPr/>
          <p:nvPr/>
        </p:nvSpPr>
        <p:spPr>
          <a:xfrm>
            <a:off x="6746244" y="4280101"/>
            <a:ext cx="772501" cy="221599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Decreases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58808" y="4306756"/>
            <a:ext cx="3370012" cy="1988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Associativity</a:t>
            </a:r>
            <a:r>
              <a:rPr lang="en-US" dirty="0" smtClean="0"/>
              <a:t>:(For same line)</a:t>
            </a:r>
          </a:p>
          <a:p>
            <a:r>
              <a:rPr lang="en-US" dirty="0"/>
              <a:t> </a:t>
            </a:r>
            <a:r>
              <a:rPr lang="en-US" dirty="0" smtClean="0"/>
              <a:t>        Left to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4*3/6*3 = 12/6*2 = 2*2 = 4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(4*3)/(6*3) = 12/18 = 0 .(0.67)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5+2/2*3 = 5+1*3 = 5+3 = 8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5*2-3*2 = 10-6 = 4 .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827816" y="4760528"/>
            <a:ext cx="1697551" cy="26867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926079" y="4887965"/>
            <a:ext cx="232210" cy="6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Arrow 16"/>
          <p:cNvSpPr/>
          <p:nvPr/>
        </p:nvSpPr>
        <p:spPr>
          <a:xfrm>
            <a:off x="5434998" y="5719509"/>
            <a:ext cx="205273" cy="7590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943918" y="5604137"/>
            <a:ext cx="403726" cy="30664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0" idx="1"/>
          </p:cNvCxnSpPr>
          <p:nvPr/>
        </p:nvCxnSpPr>
        <p:spPr>
          <a:xfrm flipV="1">
            <a:off x="5003042" y="5366559"/>
            <a:ext cx="7497" cy="2824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05529" y="4294942"/>
            <a:ext cx="1805777" cy="106299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Doing short.</a:t>
            </a:r>
          </a:p>
          <a:p>
            <a:pPr algn="ctr"/>
            <a:r>
              <a:rPr lang="en-US" dirty="0" smtClean="0"/>
              <a:t>(Assign. </a:t>
            </a:r>
            <a:r>
              <a:rPr lang="en-US" dirty="0" err="1"/>
              <a:t>o</a:t>
            </a:r>
            <a:r>
              <a:rPr lang="en-US" dirty="0" err="1" smtClean="0"/>
              <a:t>pe</a:t>
            </a:r>
            <a:r>
              <a:rPr lang="en-US" dirty="0" smtClean="0"/>
              <a:t>. Is also known as Short hand </a:t>
            </a:r>
            <a:r>
              <a:rPr lang="en-US" dirty="0" err="1" smtClean="0"/>
              <a:t>ope</a:t>
            </a:r>
            <a:r>
              <a:rPr lang="en-US" dirty="0" smtClean="0"/>
              <a:t>.)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903844" y="5366559"/>
            <a:ext cx="0" cy="2824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538912" y="3718196"/>
            <a:ext cx="0" cy="31179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35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741" y="1727526"/>
            <a:ext cx="599266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Type declaration: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(Always declare variables before using it)</a:t>
            </a:r>
          </a:p>
          <a:p>
            <a:endParaRPr lang="en-US" dirty="0"/>
          </a:p>
          <a:p>
            <a:r>
              <a:rPr lang="en-US" b="1" dirty="0" smtClean="0"/>
              <a:t>Right example:</a:t>
            </a:r>
          </a:p>
          <a:p>
            <a:r>
              <a:rPr lang="en-US" b="1" dirty="0"/>
              <a:t>	</a:t>
            </a:r>
            <a:r>
              <a:rPr lang="en-US" dirty="0" smtClean="0"/>
              <a:t>1.</a:t>
            </a:r>
            <a:r>
              <a:rPr lang="en-US" b="1" dirty="0" smtClean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a = 25</a:t>
            </a:r>
            <a:r>
              <a:rPr lang="en-US" dirty="0"/>
              <a:t>;</a:t>
            </a:r>
          </a:p>
          <a:p>
            <a:r>
              <a:rPr lang="en-US" b="1" dirty="0" smtClean="0"/>
              <a:t>		</a:t>
            </a:r>
            <a:r>
              <a:rPr lang="en-US" dirty="0" err="1" smtClean="0"/>
              <a:t>int</a:t>
            </a:r>
            <a:r>
              <a:rPr lang="en-US" dirty="0" smtClean="0"/>
              <a:t> b = 2* a;</a:t>
            </a:r>
          </a:p>
          <a:p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2.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a,b,c</a:t>
            </a:r>
            <a:r>
              <a:rPr lang="en-US" dirty="0" smtClean="0"/>
              <a:t>;</a:t>
            </a:r>
          </a:p>
          <a:p>
            <a:r>
              <a:rPr lang="en-US" dirty="0"/>
              <a:t>	</a:t>
            </a:r>
            <a:r>
              <a:rPr lang="en-US" dirty="0" smtClean="0"/>
              <a:t>	a=b=c=1	</a:t>
            </a:r>
          </a:p>
          <a:p>
            <a:r>
              <a:rPr lang="en-US" b="1" dirty="0" smtClean="0"/>
              <a:t>Wrong example: </a:t>
            </a:r>
          </a:p>
          <a:p>
            <a:r>
              <a:rPr lang="en-US" dirty="0"/>
              <a:t>	</a:t>
            </a:r>
            <a:r>
              <a:rPr lang="en-US" dirty="0" smtClean="0"/>
              <a:t>1.	</a:t>
            </a:r>
            <a:r>
              <a:rPr lang="en-US" dirty="0" err="1" smtClean="0"/>
              <a:t>int</a:t>
            </a:r>
            <a:r>
              <a:rPr lang="en-US" dirty="0" smtClean="0"/>
              <a:t> a = 25;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c = a*b;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b = 22;</a:t>
            </a:r>
          </a:p>
          <a:p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2.	</a:t>
            </a:r>
            <a:r>
              <a:rPr lang="en-US" dirty="0" err="1" smtClean="0"/>
              <a:t>int</a:t>
            </a:r>
            <a:r>
              <a:rPr lang="en-US" dirty="0" smtClean="0"/>
              <a:t> a=b=c=1; </a:t>
            </a:r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881300" y="4523910"/>
            <a:ext cx="149087" cy="288235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5" idx="7"/>
          </p:cNvCxnSpPr>
          <p:nvPr/>
        </p:nvCxnSpPr>
        <p:spPr>
          <a:xfrm flipV="1">
            <a:off x="3008554" y="4523910"/>
            <a:ext cx="569420" cy="422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48270" y="4261065"/>
            <a:ext cx="388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variable should first declare than use.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241919" y="5476461"/>
            <a:ext cx="61270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54621" y="5183028"/>
            <a:ext cx="7991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multi-assign ,first declare than multi-assign. Declaration and multi-assign can’t be </a:t>
            </a:r>
            <a:r>
              <a:rPr lang="en-US" dirty="0"/>
              <a:t>used parallelly.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8398566" y="1727526"/>
            <a:ext cx="3538330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(=) it is an assignment operator. It assign a value to variables.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25" y="42749"/>
            <a:ext cx="3871296" cy="4938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63213" y="437309"/>
            <a:ext cx="2949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Type declaration instructions.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608260" y="816517"/>
            <a:ext cx="2388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Arithmetic </a:t>
            </a:r>
            <a:r>
              <a:rPr lang="en-US" dirty="0"/>
              <a:t>instructions.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2196" y="1234398"/>
            <a:ext cx="2090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Control </a:t>
            </a:r>
            <a:r>
              <a:rPr lang="en-US" dirty="0"/>
              <a:t>instructions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76" y="381341"/>
            <a:ext cx="1170533" cy="11644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70" y="104992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135" y="382648"/>
            <a:ext cx="1179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Arithmetic instructions:</a:t>
            </a:r>
            <a:r>
              <a:rPr lang="en-US" dirty="0" smtClean="0"/>
              <a:t> </a:t>
            </a:r>
          </a:p>
          <a:p>
            <a:r>
              <a:rPr lang="en-US" dirty="0"/>
              <a:t>	</a:t>
            </a:r>
            <a:r>
              <a:rPr lang="en-US" dirty="0" smtClean="0"/>
              <a:t>x = a + b;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621194" y="908709"/>
            <a:ext cx="1" cy="23326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960206" y="910015"/>
            <a:ext cx="1" cy="23326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621194" y="1141974"/>
            <a:ext cx="33901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771261" y="1147665"/>
            <a:ext cx="0" cy="2612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88267" y="1408922"/>
            <a:ext cx="2146819" cy="12072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Operand/ Variables(As much as u like)</a:t>
            </a:r>
            <a:endParaRPr lang="en-US" dirty="0"/>
          </a:p>
        </p:txBody>
      </p:sp>
      <p:cxnSp>
        <p:nvCxnSpPr>
          <p:cNvPr id="17" name="Elbow Connector 16"/>
          <p:cNvCxnSpPr/>
          <p:nvPr/>
        </p:nvCxnSpPr>
        <p:spPr>
          <a:xfrm rot="10800000" flipV="1">
            <a:off x="910609" y="852840"/>
            <a:ext cx="356961" cy="23094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0976" y="827421"/>
            <a:ext cx="852258" cy="1553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Result (Single variable)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749282" y="541176"/>
            <a:ext cx="22862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Valid</a:t>
            </a:r>
            <a:r>
              <a:rPr lang="en-US" dirty="0" smtClean="0"/>
              <a:t> :</a:t>
            </a:r>
          </a:p>
          <a:p>
            <a:r>
              <a:rPr lang="en-US" dirty="0"/>
              <a:t>	</a:t>
            </a:r>
            <a:r>
              <a:rPr lang="en-US" dirty="0" smtClean="0"/>
              <a:t>a = b + c;</a:t>
            </a:r>
          </a:p>
          <a:p>
            <a:r>
              <a:rPr lang="en-US" dirty="0"/>
              <a:t>	</a:t>
            </a:r>
            <a:r>
              <a:rPr lang="en-US" dirty="0" smtClean="0"/>
              <a:t>a = b * c;</a:t>
            </a:r>
          </a:p>
          <a:p>
            <a:r>
              <a:rPr lang="en-US" dirty="0"/>
              <a:t>	</a:t>
            </a:r>
            <a:r>
              <a:rPr lang="en-US" dirty="0" smtClean="0"/>
              <a:t>a = b + c + d;</a:t>
            </a:r>
          </a:p>
          <a:p>
            <a:r>
              <a:rPr lang="en-US" b="1" dirty="0" smtClean="0"/>
              <a:t>Invalid 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dirty="0" smtClean="0"/>
              <a:t>a = b c;</a:t>
            </a:r>
          </a:p>
          <a:p>
            <a:r>
              <a:rPr lang="en-US" dirty="0"/>
              <a:t>	</a:t>
            </a:r>
            <a:r>
              <a:rPr lang="en-US" dirty="0" smtClean="0"/>
              <a:t>b + c = a;</a:t>
            </a:r>
          </a:p>
          <a:p>
            <a:r>
              <a:rPr lang="en-US" dirty="0"/>
              <a:t>	</a:t>
            </a:r>
            <a:r>
              <a:rPr lang="en-US" dirty="0" smtClean="0"/>
              <a:t>a = b (c)^-1;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47135" y="3110757"/>
            <a:ext cx="5324984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Type conversion: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err="1" smtClean="0"/>
              <a:t>int</a:t>
            </a:r>
            <a:r>
              <a:rPr lang="en-US" dirty="0" smtClean="0"/>
              <a:t>    OP      </a:t>
            </a:r>
            <a:r>
              <a:rPr lang="en-US" dirty="0" err="1" smtClean="0"/>
              <a:t>int</a:t>
            </a:r>
            <a:r>
              <a:rPr lang="en-US" dirty="0" smtClean="0"/>
              <a:t>    = </a:t>
            </a:r>
            <a:r>
              <a:rPr lang="en-US" dirty="0" err="1" smtClean="0"/>
              <a:t>int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err="1" smtClean="0"/>
              <a:t>int</a:t>
            </a:r>
            <a:r>
              <a:rPr lang="en-US" dirty="0" smtClean="0"/>
              <a:t>    OP  double = double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               float  OP   float   = float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3508310" y="3403012"/>
            <a:ext cx="354563" cy="901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145427" y="3110757"/>
            <a:ext cx="5043070" cy="13835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Type Cast </a:t>
            </a:r>
            <a:r>
              <a:rPr lang="en-US" dirty="0" smtClean="0">
                <a:solidFill>
                  <a:schemeClr val="tx1"/>
                </a:solidFill>
              </a:rPr>
              <a:t>: (A part of type conversion)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(</a:t>
            </a:r>
            <a:r>
              <a:rPr lang="en-US" dirty="0" err="1" smtClean="0">
                <a:solidFill>
                  <a:schemeClr val="tx1"/>
                </a:solidFill>
              </a:rPr>
              <a:t>int</a:t>
            </a:r>
            <a:r>
              <a:rPr lang="en-US" dirty="0" smtClean="0">
                <a:solidFill>
                  <a:schemeClr val="tx1"/>
                </a:solidFill>
              </a:rPr>
              <a:t>) 1.25562 = 1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(double) 1= 1.00000000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-&gt;(type) variable or number = result will be 	converted in the type.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47869" y="4786604"/>
            <a:ext cx="575676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Control instructions:</a:t>
            </a:r>
            <a:r>
              <a:rPr lang="en-US" dirty="0" smtClean="0"/>
              <a:t> -&gt;Determine flow of program.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Sequence control : Sequence wise write.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Decision control : </a:t>
            </a:r>
            <a:r>
              <a:rPr lang="en-US" dirty="0" err="1" smtClean="0"/>
              <a:t>if..else</a:t>
            </a:r>
            <a:r>
              <a:rPr lang="en-US" dirty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Loop control : for, while, do…while.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Case control : Case </a:t>
            </a:r>
            <a:r>
              <a:rPr lang="en-US" dirty="0" err="1" smtClean="0"/>
              <a:t>dec.</a:t>
            </a:r>
            <a:r>
              <a:rPr lang="en-US" dirty="0" smtClean="0"/>
              <a:t> wise (what to do and not to do).</a:t>
            </a:r>
            <a:endParaRPr lang="en-US" dirty="0"/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4534678" y="5533054"/>
            <a:ext cx="1250302" cy="93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784980" y="4931278"/>
            <a:ext cx="2519265" cy="10123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Heder</a:t>
            </a:r>
            <a:r>
              <a:rPr lang="en-US" dirty="0" smtClean="0">
                <a:solidFill>
                  <a:schemeClr val="tx1"/>
                </a:solidFill>
              </a:rPr>
              <a:t>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Type </a:t>
            </a:r>
            <a:r>
              <a:rPr lang="en-US" dirty="0" err="1" smtClean="0">
                <a:solidFill>
                  <a:schemeClr val="tx1"/>
                </a:solidFill>
              </a:rPr>
              <a:t>dec.</a:t>
            </a: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Variable </a:t>
            </a:r>
            <a:r>
              <a:rPr lang="en-US" dirty="0" err="1" smtClean="0">
                <a:solidFill>
                  <a:schemeClr val="tx1"/>
                </a:solidFill>
              </a:rPr>
              <a:t>dec.</a:t>
            </a: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18211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902" y="98853"/>
            <a:ext cx="4743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</a:rPr>
              <a:t>Practice some examples.. Using operators..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902" y="584886"/>
            <a:ext cx="2758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Conditional statements: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00574" y="104014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If….else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38038" y="1040141"/>
            <a:ext cx="4203951" cy="1826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If(condition){</a:t>
            </a:r>
          </a:p>
          <a:p>
            <a:r>
              <a:rPr lang="en-US" dirty="0"/>
              <a:t>	</a:t>
            </a:r>
            <a:r>
              <a:rPr lang="en-US" dirty="0" smtClean="0"/>
              <a:t>process(if the condition is true)</a:t>
            </a:r>
          </a:p>
          <a:p>
            <a:r>
              <a:rPr lang="en-US" dirty="0" smtClean="0"/>
              <a:t>	}</a:t>
            </a:r>
          </a:p>
          <a:p>
            <a:r>
              <a:rPr lang="en-US" dirty="0"/>
              <a:t> </a:t>
            </a:r>
            <a:r>
              <a:rPr lang="en-US" dirty="0" smtClean="0"/>
              <a:t>else{</a:t>
            </a:r>
          </a:p>
          <a:p>
            <a:r>
              <a:rPr lang="en-US" dirty="0"/>
              <a:t>	</a:t>
            </a:r>
            <a:r>
              <a:rPr lang="en-US" dirty="0" smtClean="0"/>
              <a:t>process(if the condition is false)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5027" y="815545"/>
            <a:ext cx="5058032" cy="21583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a=10;</a:t>
            </a:r>
          </a:p>
          <a:p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b=7;</a:t>
            </a:r>
          </a:p>
          <a:p>
            <a:r>
              <a:rPr lang="en-US" dirty="0"/>
              <a:t>if(a&gt;b</a:t>
            </a:r>
            <a:r>
              <a:rPr lang="en-US" dirty="0" smtClean="0"/>
              <a:t>){</a:t>
            </a:r>
          </a:p>
          <a:p>
            <a:r>
              <a:rPr lang="en-US" dirty="0"/>
              <a:t>	</a:t>
            </a:r>
            <a:r>
              <a:rPr lang="en-US" dirty="0" err="1" smtClean="0"/>
              <a:t>printf</a:t>
            </a:r>
            <a:r>
              <a:rPr lang="en-US" dirty="0"/>
              <a:t>("A is big");</a:t>
            </a:r>
          </a:p>
          <a:p>
            <a:r>
              <a:rPr lang="en-US" dirty="0" smtClean="0"/>
              <a:t>	}</a:t>
            </a:r>
            <a:endParaRPr lang="en-US" dirty="0"/>
          </a:p>
          <a:p>
            <a:r>
              <a:rPr lang="en-US" dirty="0" smtClean="0"/>
              <a:t>else{</a:t>
            </a:r>
          </a:p>
          <a:p>
            <a:r>
              <a:rPr lang="en-US" dirty="0"/>
              <a:t>	</a:t>
            </a:r>
            <a:r>
              <a:rPr lang="en-US" dirty="0" err="1" smtClean="0"/>
              <a:t>printf</a:t>
            </a:r>
            <a:r>
              <a:rPr lang="en-US" dirty="0"/>
              <a:t>("B is big");</a:t>
            </a:r>
          </a:p>
          <a:p>
            <a:r>
              <a:rPr lang="en-US" dirty="0" smtClean="0"/>
              <a:t>	}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0375" y="340794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If…else if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810081" y="3407946"/>
            <a:ext cx="5900535" cy="24432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if(condition1){</a:t>
            </a:r>
          </a:p>
          <a:p>
            <a:r>
              <a:rPr lang="en-US" dirty="0" smtClean="0"/>
              <a:t>	process(if condition1 is true)</a:t>
            </a:r>
          </a:p>
          <a:p>
            <a:r>
              <a:rPr lang="en-US" dirty="0" smtClean="0"/>
              <a:t>	}</a:t>
            </a:r>
          </a:p>
          <a:p>
            <a:r>
              <a:rPr lang="en-US" dirty="0"/>
              <a:t>e</a:t>
            </a:r>
            <a:r>
              <a:rPr lang="en-US" dirty="0" smtClean="0"/>
              <a:t>lse if(condition2){</a:t>
            </a:r>
          </a:p>
          <a:p>
            <a:r>
              <a:rPr lang="en-US" dirty="0"/>
              <a:t>	</a:t>
            </a:r>
            <a:r>
              <a:rPr lang="en-US" dirty="0" smtClean="0"/>
              <a:t>process(if condition1 is false and condition2 is true)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r>
              <a:rPr lang="en-US" dirty="0"/>
              <a:t>e</a:t>
            </a:r>
            <a:r>
              <a:rPr lang="en-US" dirty="0" smtClean="0"/>
              <a:t>lse{</a:t>
            </a:r>
          </a:p>
          <a:p>
            <a:r>
              <a:rPr lang="en-US" dirty="0"/>
              <a:t>	</a:t>
            </a:r>
            <a:r>
              <a:rPr lang="en-US" dirty="0" smtClean="0"/>
              <a:t>process(if condition2 is false)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801233" y="3284379"/>
            <a:ext cx="4308389" cy="30175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int</a:t>
            </a:r>
            <a:r>
              <a:rPr lang="en-US" dirty="0"/>
              <a:t> a=10;</a:t>
            </a:r>
          </a:p>
          <a:p>
            <a:r>
              <a:rPr lang="en-US" dirty="0" err="1"/>
              <a:t>int</a:t>
            </a:r>
            <a:r>
              <a:rPr lang="en-US" dirty="0"/>
              <a:t> b=70;</a:t>
            </a:r>
          </a:p>
          <a:p>
            <a:r>
              <a:rPr lang="en-US" dirty="0"/>
              <a:t>if(a&gt;b){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is big");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else if(b&gt;a){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("B is big");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else 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and B is equal");</a:t>
            </a:r>
          </a:p>
          <a:p>
            <a:r>
              <a:rPr lang="en-US" dirty="0"/>
              <a:t>    }</a:t>
            </a:r>
          </a:p>
        </p:txBody>
      </p:sp>
      <p:cxnSp>
        <p:nvCxnSpPr>
          <p:cNvPr id="13" name="Elbow Connector 12"/>
          <p:cNvCxnSpPr>
            <a:stCxn id="7" idx="1"/>
          </p:cNvCxnSpPr>
          <p:nvPr/>
        </p:nvCxnSpPr>
        <p:spPr>
          <a:xfrm rot="10800000" flipV="1">
            <a:off x="477795" y="3592611"/>
            <a:ext cx="182580" cy="33683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3902" y="3929447"/>
            <a:ext cx="1466001" cy="13510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</a:t>
            </a:r>
            <a:r>
              <a:rPr lang="en-US" dirty="0" smtClean="0"/>
              <a:t>n case 1</a:t>
            </a:r>
            <a:r>
              <a:rPr lang="en-US" baseline="30000" dirty="0" smtClean="0"/>
              <a:t>st</a:t>
            </a:r>
            <a:r>
              <a:rPr lang="en-US" dirty="0" smtClean="0">
                <a:solidFill>
                  <a:srgbClr val="00B050"/>
                </a:solidFill>
              </a:rPr>
              <a:t> if </a:t>
            </a:r>
            <a:r>
              <a:rPr lang="en-US" dirty="0" smtClean="0"/>
              <a:t>is true than </a:t>
            </a:r>
            <a:r>
              <a:rPr lang="en-US" dirty="0" smtClean="0">
                <a:solidFill>
                  <a:srgbClr val="00B050"/>
                </a:solidFill>
              </a:rPr>
              <a:t>else if 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B050"/>
                </a:solidFill>
              </a:rPr>
              <a:t>else</a:t>
            </a:r>
            <a:r>
              <a:rPr lang="en-US" dirty="0" smtClean="0"/>
              <a:t> won’t be check.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64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611" y="271849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Multiple if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93254" y="271849"/>
            <a:ext cx="4495654" cy="26525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if(condition1){</a:t>
            </a:r>
          </a:p>
          <a:p>
            <a:r>
              <a:rPr lang="en-US" dirty="0" smtClean="0"/>
              <a:t>	process(if condition1 is true)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r>
              <a:rPr lang="en-US" dirty="0" smtClean="0"/>
              <a:t>if(condition2){</a:t>
            </a:r>
            <a:endParaRPr lang="en-US" dirty="0"/>
          </a:p>
          <a:p>
            <a:r>
              <a:rPr lang="en-US" dirty="0"/>
              <a:t>	process(if </a:t>
            </a:r>
            <a:r>
              <a:rPr lang="en-US" dirty="0" smtClean="0"/>
              <a:t>condition2 </a:t>
            </a:r>
            <a:r>
              <a:rPr lang="en-US" dirty="0"/>
              <a:t>is true)</a:t>
            </a:r>
          </a:p>
          <a:p>
            <a:r>
              <a:rPr lang="en-US" dirty="0"/>
              <a:t>	}</a:t>
            </a:r>
          </a:p>
          <a:p>
            <a:r>
              <a:rPr lang="en-US" dirty="0" smtClean="0"/>
              <a:t>if(condition3){</a:t>
            </a:r>
            <a:endParaRPr lang="en-US" dirty="0"/>
          </a:p>
          <a:p>
            <a:r>
              <a:rPr lang="en-US" dirty="0"/>
              <a:t>	process(if </a:t>
            </a:r>
            <a:r>
              <a:rPr lang="en-US" dirty="0" smtClean="0"/>
              <a:t>condition3 </a:t>
            </a:r>
            <a:r>
              <a:rPr lang="en-US" dirty="0"/>
              <a:t>is true)</a:t>
            </a:r>
          </a:p>
          <a:p>
            <a:r>
              <a:rPr lang="en-US" dirty="0"/>
              <a:t>	}</a:t>
            </a:r>
          </a:p>
          <a:p>
            <a:endParaRPr lang="en-US" dirty="0" smtClean="0"/>
          </a:p>
        </p:txBody>
      </p:sp>
      <p:cxnSp>
        <p:nvCxnSpPr>
          <p:cNvPr id="5" name="Elbow Connector 4"/>
          <p:cNvCxnSpPr/>
          <p:nvPr/>
        </p:nvCxnSpPr>
        <p:spPr>
          <a:xfrm rot="10800000" flipV="1">
            <a:off x="263611" y="456515"/>
            <a:ext cx="82379" cy="28489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23568" y="741404"/>
            <a:ext cx="914400" cy="1416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This time all </a:t>
            </a:r>
            <a:r>
              <a:rPr lang="en-US" dirty="0" smtClean="0">
                <a:solidFill>
                  <a:srgbClr val="00B050"/>
                </a:solidFill>
              </a:rPr>
              <a:t>if</a:t>
            </a:r>
            <a:r>
              <a:rPr lang="en-US" dirty="0" smtClean="0"/>
              <a:t> will be check.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27805" y="181232"/>
            <a:ext cx="5708822" cy="29738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int</a:t>
            </a:r>
            <a:r>
              <a:rPr lang="en-US" dirty="0"/>
              <a:t> a=10;</a:t>
            </a:r>
          </a:p>
          <a:p>
            <a:r>
              <a:rPr lang="en-US" dirty="0" err="1"/>
              <a:t>int</a:t>
            </a:r>
            <a:r>
              <a:rPr lang="en-US" dirty="0"/>
              <a:t> b=20;</a:t>
            </a:r>
          </a:p>
          <a:p>
            <a:r>
              <a:rPr lang="en-US" dirty="0"/>
              <a:t>if(a&gt;0){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is </a:t>
            </a:r>
            <a:r>
              <a:rPr lang="en-US" dirty="0" smtClean="0"/>
              <a:t>positive\n");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if(b&gt;0){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("B is </a:t>
            </a:r>
            <a:r>
              <a:rPr lang="en-US" dirty="0" smtClean="0"/>
              <a:t>positive\n");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if((b%2==0)&amp;&amp;(a%2==0)){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and B is </a:t>
            </a:r>
            <a:r>
              <a:rPr lang="en-US" dirty="0" smtClean="0"/>
              <a:t>even\n");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4269" y="3139302"/>
            <a:ext cx="333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Nested if…else </a:t>
            </a:r>
            <a:r>
              <a:rPr lang="en-US" dirty="0" smtClean="0"/>
              <a:t>: (</a:t>
            </a:r>
            <a:r>
              <a:rPr lang="en-US" dirty="0" smtClean="0">
                <a:solidFill>
                  <a:srgbClr val="00B050"/>
                </a:solidFill>
              </a:rPr>
              <a:t>if…else</a:t>
            </a:r>
            <a:r>
              <a:rPr lang="en-US" dirty="0" smtClean="0"/>
              <a:t> inside </a:t>
            </a:r>
            <a:r>
              <a:rPr lang="en-US" dirty="0" smtClean="0">
                <a:solidFill>
                  <a:srgbClr val="00B050"/>
                </a:solidFill>
              </a:rPr>
              <a:t>if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305087" y="3570419"/>
            <a:ext cx="4785081" cy="28221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if(condition1){</a:t>
            </a:r>
          </a:p>
          <a:p>
            <a:r>
              <a:rPr lang="en-US" dirty="0"/>
              <a:t>	</a:t>
            </a:r>
            <a:r>
              <a:rPr lang="en-US" dirty="0" smtClean="0"/>
              <a:t>(if condition1 is true)</a:t>
            </a:r>
          </a:p>
          <a:p>
            <a:r>
              <a:rPr lang="en-US" dirty="0"/>
              <a:t>	</a:t>
            </a:r>
            <a:r>
              <a:rPr lang="en-US" dirty="0" smtClean="0"/>
              <a:t>process;</a:t>
            </a:r>
          </a:p>
          <a:p>
            <a:r>
              <a:rPr lang="en-US" dirty="0"/>
              <a:t>	</a:t>
            </a:r>
            <a:r>
              <a:rPr lang="en-US" dirty="0" smtClean="0"/>
              <a:t>if(condition2){</a:t>
            </a:r>
          </a:p>
          <a:p>
            <a:r>
              <a:rPr lang="en-US" dirty="0"/>
              <a:t>	</a:t>
            </a:r>
            <a:r>
              <a:rPr lang="en-US" dirty="0" smtClean="0"/>
              <a:t>	process(if condition2 is true)</a:t>
            </a:r>
          </a:p>
          <a:p>
            <a:r>
              <a:rPr lang="en-US" dirty="0"/>
              <a:t>	</a:t>
            </a:r>
            <a:r>
              <a:rPr lang="en-US" dirty="0" smtClean="0"/>
              <a:t>	}</a:t>
            </a:r>
          </a:p>
          <a:p>
            <a:r>
              <a:rPr lang="en-US" dirty="0"/>
              <a:t>	</a:t>
            </a:r>
            <a:r>
              <a:rPr lang="en-US" dirty="0" smtClean="0"/>
              <a:t>else{</a:t>
            </a:r>
          </a:p>
          <a:p>
            <a:r>
              <a:rPr lang="en-US" dirty="0"/>
              <a:t>	</a:t>
            </a:r>
            <a:r>
              <a:rPr lang="en-US" dirty="0" smtClean="0"/>
              <a:t>	process(if condition2 is false)</a:t>
            </a:r>
          </a:p>
          <a:p>
            <a:r>
              <a:rPr lang="en-US" dirty="0"/>
              <a:t>	</a:t>
            </a:r>
            <a:r>
              <a:rPr lang="en-US" dirty="0" smtClean="0"/>
              <a:t>	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45135" y="3603370"/>
            <a:ext cx="4785081" cy="28221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else{</a:t>
            </a:r>
          </a:p>
          <a:p>
            <a:r>
              <a:rPr lang="en-US" dirty="0"/>
              <a:t>	</a:t>
            </a:r>
            <a:r>
              <a:rPr lang="en-US" dirty="0" smtClean="0"/>
              <a:t>(if condition1 is false)</a:t>
            </a:r>
          </a:p>
          <a:p>
            <a:r>
              <a:rPr lang="en-US" dirty="0"/>
              <a:t>	</a:t>
            </a:r>
            <a:r>
              <a:rPr lang="en-US" dirty="0" smtClean="0"/>
              <a:t>process;</a:t>
            </a:r>
          </a:p>
          <a:p>
            <a:r>
              <a:rPr lang="en-US" dirty="0"/>
              <a:t>	</a:t>
            </a:r>
            <a:r>
              <a:rPr lang="en-US" dirty="0" smtClean="0"/>
              <a:t>if(condition3){</a:t>
            </a:r>
          </a:p>
          <a:p>
            <a:r>
              <a:rPr lang="en-US" dirty="0"/>
              <a:t>	</a:t>
            </a:r>
            <a:r>
              <a:rPr lang="en-US" dirty="0" smtClean="0"/>
              <a:t>	process(if condition3 is true)</a:t>
            </a:r>
          </a:p>
          <a:p>
            <a:r>
              <a:rPr lang="en-US" dirty="0"/>
              <a:t>	</a:t>
            </a:r>
            <a:r>
              <a:rPr lang="en-US" dirty="0" smtClean="0"/>
              <a:t>	}</a:t>
            </a:r>
          </a:p>
          <a:p>
            <a:r>
              <a:rPr lang="en-US" dirty="0"/>
              <a:t>	</a:t>
            </a:r>
            <a:r>
              <a:rPr lang="en-US" dirty="0" smtClean="0"/>
              <a:t>else{</a:t>
            </a:r>
          </a:p>
          <a:p>
            <a:r>
              <a:rPr lang="en-US" dirty="0"/>
              <a:t>	</a:t>
            </a:r>
            <a:r>
              <a:rPr lang="en-US" dirty="0" smtClean="0"/>
              <a:t>	process(if condition3 is false)</a:t>
            </a:r>
          </a:p>
          <a:p>
            <a:r>
              <a:rPr lang="en-US" dirty="0"/>
              <a:t>	</a:t>
            </a:r>
            <a:r>
              <a:rPr lang="en-US" dirty="0" smtClean="0"/>
              <a:t>	}</a:t>
            </a:r>
          </a:p>
        </p:txBody>
      </p:sp>
      <p:cxnSp>
        <p:nvCxnSpPr>
          <p:cNvPr id="14" name="Elbow Connector 13"/>
          <p:cNvCxnSpPr/>
          <p:nvPr/>
        </p:nvCxnSpPr>
        <p:spPr>
          <a:xfrm rot="16200000" flipH="1">
            <a:off x="5735871" y="5274552"/>
            <a:ext cx="321276" cy="2557297"/>
          </a:xfrm>
          <a:prstGeom prst="bent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7166919" y="3728999"/>
            <a:ext cx="8238" cy="298483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175157" y="3731741"/>
            <a:ext cx="194691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 rot="5400000">
            <a:off x="275282" y="3481861"/>
            <a:ext cx="495641" cy="115331"/>
          </a:xfrm>
          <a:prstGeom prst="bentConnector3">
            <a:avLst>
              <a:gd name="adj1" fmla="val 18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710" y="3796962"/>
            <a:ext cx="2179981" cy="30177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In case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00B050"/>
                </a:solidFill>
              </a:rPr>
              <a:t>if</a:t>
            </a:r>
            <a:r>
              <a:rPr lang="en-US" sz="1600" dirty="0" smtClean="0"/>
              <a:t> is false than </a:t>
            </a:r>
            <a:r>
              <a:rPr lang="en-US" sz="1600" dirty="0" err="1" smtClean="0">
                <a:solidFill>
                  <a:srgbClr val="00B050"/>
                </a:solidFill>
              </a:rPr>
              <a:t>if..else</a:t>
            </a:r>
            <a:r>
              <a:rPr lang="en-US" sz="1600" dirty="0" smtClean="0">
                <a:solidFill>
                  <a:srgbClr val="00B050"/>
                </a:solidFill>
              </a:rPr>
              <a:t> </a:t>
            </a:r>
            <a:r>
              <a:rPr lang="en-US" sz="1600" dirty="0" smtClean="0"/>
              <a:t>inside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00B050"/>
                </a:solidFill>
              </a:rPr>
              <a:t>if</a:t>
            </a:r>
            <a:r>
              <a:rPr lang="en-US" sz="1600" dirty="0" smtClean="0"/>
              <a:t> won’t be check but </a:t>
            </a:r>
            <a:r>
              <a:rPr lang="en-US" sz="1600" dirty="0" smtClean="0">
                <a:solidFill>
                  <a:srgbClr val="00B050"/>
                </a:solidFill>
              </a:rPr>
              <a:t>else</a:t>
            </a:r>
            <a:r>
              <a:rPr lang="en-US" sz="1600" dirty="0" smtClean="0"/>
              <a:t> and </a:t>
            </a:r>
            <a:r>
              <a:rPr lang="en-US" sz="1600" dirty="0" err="1" smtClean="0">
                <a:solidFill>
                  <a:srgbClr val="00B050"/>
                </a:solidFill>
              </a:rPr>
              <a:t>if..else</a:t>
            </a:r>
            <a:r>
              <a:rPr lang="en-US" sz="1600" dirty="0" smtClean="0"/>
              <a:t> inside </a:t>
            </a:r>
            <a:r>
              <a:rPr lang="en-US" sz="1600" dirty="0" smtClean="0">
                <a:solidFill>
                  <a:srgbClr val="00B050"/>
                </a:solidFill>
              </a:rPr>
              <a:t>else</a:t>
            </a:r>
            <a:r>
              <a:rPr lang="en-US" sz="1600" dirty="0" smtClean="0"/>
              <a:t> will be check. On the other hand in case the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00B050"/>
                </a:solidFill>
              </a:rPr>
              <a:t>if</a:t>
            </a:r>
            <a:r>
              <a:rPr lang="en-US" sz="1600" dirty="0" smtClean="0"/>
              <a:t> is true than ,</a:t>
            </a:r>
            <a:r>
              <a:rPr lang="en-US" sz="1600" dirty="0" err="1" smtClean="0">
                <a:solidFill>
                  <a:srgbClr val="00B050"/>
                </a:solidFill>
              </a:rPr>
              <a:t>if..else</a:t>
            </a:r>
            <a:r>
              <a:rPr lang="en-US" sz="1600" dirty="0" smtClean="0">
                <a:solidFill>
                  <a:srgbClr val="00B050"/>
                </a:solidFill>
              </a:rPr>
              <a:t> </a:t>
            </a:r>
            <a:r>
              <a:rPr lang="en-US" sz="1600" dirty="0" smtClean="0"/>
              <a:t>inside 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00B050"/>
                </a:solidFill>
              </a:rPr>
              <a:t>if</a:t>
            </a:r>
            <a:r>
              <a:rPr lang="en-US" sz="1600" dirty="0" smtClean="0"/>
              <a:t> will be check and </a:t>
            </a:r>
            <a:r>
              <a:rPr lang="en-US" sz="1600" dirty="0" smtClean="0">
                <a:solidFill>
                  <a:srgbClr val="00B050"/>
                </a:solidFill>
              </a:rPr>
              <a:t>else</a:t>
            </a:r>
            <a:r>
              <a:rPr lang="en-US" sz="1600" dirty="0" smtClean="0"/>
              <a:t> and it’s part won’t be check.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039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19" y="57665"/>
            <a:ext cx="586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Practice nested </a:t>
            </a:r>
            <a:r>
              <a:rPr lang="en-US" b="1" dirty="0" err="1">
                <a:solidFill>
                  <a:srgbClr val="00B0F0"/>
                </a:solidFill>
              </a:rPr>
              <a:t>if..else</a:t>
            </a:r>
            <a:r>
              <a:rPr lang="en-US" b="1" dirty="0">
                <a:solidFill>
                  <a:srgbClr val="00B0F0"/>
                </a:solidFill>
              </a:rPr>
              <a:t> and other conditional statement</a:t>
            </a:r>
            <a:r>
              <a:rPr lang="en-US" b="1" dirty="0" smtClean="0">
                <a:solidFill>
                  <a:srgbClr val="00B0F0"/>
                </a:solidFill>
              </a:rPr>
              <a:t>..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373" y="426997"/>
            <a:ext cx="8172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/>
              <a:t>Write a program to find a character entered by user , is upper case or lower case..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u="sng" dirty="0" smtClean="0"/>
              <a:t>Answer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401064" y="57665"/>
            <a:ext cx="3667368" cy="8121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u="sng" dirty="0" smtClean="0">
                <a:solidFill>
                  <a:srgbClr val="FFFF00"/>
                </a:solidFill>
              </a:rPr>
              <a:t>ASCAII value </a:t>
            </a:r>
            <a:r>
              <a:rPr lang="en-US" dirty="0" smtClean="0"/>
              <a:t>: </a:t>
            </a:r>
            <a:r>
              <a:rPr lang="en-US" sz="1000" dirty="0" smtClean="0"/>
              <a:t>(</a:t>
            </a:r>
            <a:r>
              <a:rPr lang="en-US" altLang="en-US" sz="1000" dirty="0" smtClean="0">
                <a:solidFill>
                  <a:srgbClr val="000000"/>
                </a:solidFill>
                <a:latin typeface="Arial Unicode MS" panose="020B0604020202020204" pitchFamily="34" charset="-128"/>
              </a:rPr>
              <a:t>Decimal value</a:t>
            </a:r>
            <a:r>
              <a:rPr lang="en-US" altLang="en-US" sz="1000" dirty="0" smtClean="0">
                <a:solidFill>
                  <a:schemeClr val="tx1"/>
                </a:solidFill>
              </a:rPr>
              <a:t> of character and symbols.</a:t>
            </a:r>
            <a:r>
              <a:rPr lang="en-US" sz="1000" dirty="0" smtClean="0"/>
              <a:t> )</a:t>
            </a:r>
          </a:p>
          <a:p>
            <a:r>
              <a:rPr lang="en-US" sz="1100" dirty="0" smtClean="0"/>
              <a:t>(‘A’=65 to ‘Z’=90), (‘a’=97 to ‘z’=122) others are for symbols.</a:t>
            </a:r>
            <a:endParaRPr lang="en-US" sz="1100" dirty="0"/>
          </a:p>
        </p:txBody>
      </p:sp>
      <p:sp>
        <p:nvSpPr>
          <p:cNvPr id="7" name="Rectangle 6"/>
          <p:cNvSpPr/>
          <p:nvPr/>
        </p:nvSpPr>
        <p:spPr>
          <a:xfrm>
            <a:off x="587230" y="1087891"/>
            <a:ext cx="10427515" cy="5673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int</a:t>
            </a:r>
            <a:r>
              <a:rPr lang="en-US" dirty="0"/>
              <a:t> main</a:t>
            </a:r>
            <a:r>
              <a:rPr lang="en-US" dirty="0" smtClean="0"/>
              <a:t>(){</a:t>
            </a:r>
            <a:endParaRPr lang="en-US" dirty="0"/>
          </a:p>
          <a:p>
            <a:pPr lvl="1"/>
            <a:r>
              <a:rPr lang="en-US" dirty="0"/>
              <a:t>  char character</a:t>
            </a:r>
            <a:r>
              <a:rPr lang="en-US" dirty="0" smtClean="0"/>
              <a:t>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("Enter character: ");</a:t>
            </a:r>
          </a:p>
          <a:p>
            <a:pPr lvl="1"/>
            <a:r>
              <a:rPr lang="en-US" dirty="0"/>
              <a:t>  scanf("%c", &amp;character);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  if (character &gt;= 'A'&amp;&amp; character &lt;= 'Z'){</a:t>
            </a:r>
          </a:p>
          <a:p>
            <a:pPr lvl="1"/>
            <a:r>
              <a:rPr lang="en-US" dirty="0"/>
              <a:t>     </a:t>
            </a:r>
            <a:r>
              <a:rPr lang="en-US" dirty="0" smtClean="0"/>
              <a:t>		 </a:t>
            </a:r>
            <a:r>
              <a:rPr lang="en-US" dirty="0" err="1"/>
              <a:t>printf</a:t>
            </a:r>
            <a:r>
              <a:rPr lang="en-US" dirty="0"/>
              <a:t>("Upper case\n");</a:t>
            </a:r>
          </a:p>
          <a:p>
            <a:pPr lvl="1"/>
            <a:r>
              <a:rPr lang="en-US" dirty="0"/>
              <a:t>    </a:t>
            </a:r>
            <a:r>
              <a:rPr lang="en-US" dirty="0" smtClean="0"/>
              <a:t>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  else if (character &gt;= 'a' &amp;&amp; character &lt;= 'z'){</a:t>
            </a:r>
          </a:p>
          <a:p>
            <a:pPr lvl="1"/>
            <a:r>
              <a:rPr lang="en-US" dirty="0"/>
              <a:t>       </a:t>
            </a:r>
            <a:r>
              <a:rPr lang="en-US" dirty="0" smtClean="0"/>
              <a:t>		 </a:t>
            </a:r>
            <a:r>
              <a:rPr lang="en-US" dirty="0" err="1"/>
              <a:t>printf</a:t>
            </a:r>
            <a:r>
              <a:rPr lang="en-US" dirty="0"/>
              <a:t>("Lower case\n");</a:t>
            </a:r>
          </a:p>
          <a:p>
            <a:pPr lvl="1"/>
            <a:r>
              <a:rPr lang="en-US" dirty="0"/>
              <a:t>    </a:t>
            </a:r>
            <a:r>
              <a:rPr lang="en-US" dirty="0" smtClean="0"/>
              <a:t>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  else </a:t>
            </a:r>
            <a:r>
              <a:rPr lang="en-US" dirty="0" err="1"/>
              <a:t>printf</a:t>
            </a:r>
            <a:r>
              <a:rPr lang="en-US" dirty="0"/>
              <a:t>("Not a character\n");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return 0;</a:t>
            </a:r>
          </a:p>
          <a:p>
            <a:pPr lvl="1"/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12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8854" y="99517"/>
            <a:ext cx="6691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Ternary operator </a:t>
            </a:r>
            <a:r>
              <a:rPr lang="en-US" dirty="0" smtClean="0"/>
              <a:t>: (A short form of </a:t>
            </a:r>
            <a:r>
              <a:rPr lang="en-US" dirty="0" err="1" smtClean="0"/>
              <a:t>if..else</a:t>
            </a:r>
            <a:r>
              <a:rPr lang="en-US" dirty="0" smtClean="0"/>
              <a:t>; used instead of </a:t>
            </a:r>
            <a:r>
              <a:rPr lang="en-US" dirty="0" err="1" smtClean="0"/>
              <a:t>if..else</a:t>
            </a:r>
            <a:r>
              <a:rPr lang="en-US" dirty="0" smtClean="0"/>
              <a:t>.)</a:t>
            </a:r>
          </a:p>
          <a:p>
            <a:pPr lvl="1"/>
            <a:r>
              <a:rPr lang="en-US" dirty="0"/>
              <a:t>	</a:t>
            </a:r>
            <a:r>
              <a:rPr lang="en-US" b="1" dirty="0"/>
              <a:t>S</a:t>
            </a:r>
            <a:r>
              <a:rPr lang="en-US" b="1" dirty="0" smtClean="0"/>
              <a:t>yntax</a:t>
            </a:r>
            <a:r>
              <a:rPr lang="en-US" dirty="0" smtClean="0"/>
              <a:t> : </a:t>
            </a:r>
          </a:p>
          <a:p>
            <a:pPr lvl="1"/>
            <a:r>
              <a:rPr lang="en-US" dirty="0"/>
              <a:t>	</a:t>
            </a:r>
            <a:r>
              <a:rPr lang="en-US" dirty="0" smtClean="0"/>
              <a:t>	(condition)? process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(if true)</a:t>
            </a:r>
            <a:r>
              <a:rPr lang="en-US" sz="1400" dirty="0" smtClean="0"/>
              <a:t> </a:t>
            </a:r>
            <a:r>
              <a:rPr lang="en-US" dirty="0" smtClean="0"/>
              <a:t>: process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(if false) 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467563" y="706101"/>
            <a:ext cx="114300" cy="40444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Elbow Connector 6"/>
          <p:cNvCxnSpPr>
            <a:stCxn id="5" idx="4"/>
          </p:cNvCxnSpPr>
          <p:nvPr/>
        </p:nvCxnSpPr>
        <p:spPr>
          <a:xfrm rot="16200000" flipH="1">
            <a:off x="4678470" y="956790"/>
            <a:ext cx="110121" cy="41763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941278" y="1105214"/>
            <a:ext cx="1441938" cy="2309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Called ‘if not’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008721" y="53455"/>
            <a:ext cx="4149969" cy="19387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 smtClean="0"/>
              <a:t>Ex:</a:t>
            </a:r>
          </a:p>
          <a:p>
            <a:r>
              <a:rPr lang="en-US" sz="1100" dirty="0" smtClean="0"/>
              <a:t>#include&lt;</a:t>
            </a:r>
            <a:r>
              <a:rPr lang="en-US" sz="1100" dirty="0" err="1" smtClean="0"/>
              <a:t>stdio.h</a:t>
            </a:r>
            <a:r>
              <a:rPr lang="en-US" sz="1100" dirty="0"/>
              <a:t>&gt;</a:t>
            </a:r>
          </a:p>
          <a:p>
            <a:r>
              <a:rPr lang="en-US" sz="1100" dirty="0" err="1"/>
              <a:t>int</a:t>
            </a:r>
            <a:r>
              <a:rPr lang="en-US" sz="1100" dirty="0"/>
              <a:t> main(){</a:t>
            </a:r>
          </a:p>
          <a:p>
            <a:r>
              <a:rPr lang="en-US" sz="1100" dirty="0" err="1" smtClean="0"/>
              <a:t>int</a:t>
            </a:r>
            <a:r>
              <a:rPr lang="en-US" sz="1100" dirty="0" smtClean="0"/>
              <a:t> </a:t>
            </a:r>
            <a:r>
              <a:rPr lang="en-US" sz="1100" dirty="0"/>
              <a:t>a=7</a:t>
            </a:r>
            <a:r>
              <a:rPr lang="en-US" sz="1100" dirty="0" smtClean="0"/>
              <a:t>;</a:t>
            </a:r>
            <a:endParaRPr lang="en-US" sz="1100" dirty="0"/>
          </a:p>
          <a:p>
            <a:r>
              <a:rPr lang="en-US" sz="1100" dirty="0"/>
              <a:t>(a%2==0)? </a:t>
            </a:r>
            <a:r>
              <a:rPr lang="en-US" sz="1100" dirty="0" err="1"/>
              <a:t>printf</a:t>
            </a:r>
            <a:r>
              <a:rPr lang="en-US" sz="1100" dirty="0"/>
              <a:t>("Even") : </a:t>
            </a:r>
            <a:r>
              <a:rPr lang="en-US" sz="1100" dirty="0" err="1"/>
              <a:t>printf</a:t>
            </a:r>
            <a:r>
              <a:rPr lang="en-US" sz="1100" dirty="0"/>
              <a:t>("Odd</a:t>
            </a:r>
            <a:r>
              <a:rPr lang="en-US" sz="1100" dirty="0" smtClean="0"/>
              <a:t>");</a:t>
            </a:r>
          </a:p>
          <a:p>
            <a:r>
              <a:rPr lang="en-US" sz="1100" dirty="0"/>
              <a:t> return 0;</a:t>
            </a:r>
          </a:p>
          <a:p>
            <a:r>
              <a:rPr lang="en-US" sz="1100" dirty="0"/>
              <a:t>}</a:t>
            </a:r>
            <a:endParaRPr lang="en-US" sz="1100" dirty="0" smtClean="0"/>
          </a:p>
          <a:p>
            <a:endParaRPr lang="en-US" sz="1100" dirty="0"/>
          </a:p>
          <a:p>
            <a:r>
              <a:rPr lang="en-US" sz="1100" u="sng" dirty="0" smtClean="0"/>
              <a:t>Answer:</a:t>
            </a:r>
            <a:r>
              <a:rPr lang="en-US" sz="1100" dirty="0" smtClean="0"/>
              <a:t> Odd</a:t>
            </a:r>
            <a:endParaRPr 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98854" y="2141837"/>
            <a:ext cx="580492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Switch</a:t>
            </a:r>
            <a:r>
              <a:rPr lang="en-US" dirty="0" smtClean="0"/>
              <a:t> : (Case in order)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/>
              <a:t>	</a:t>
            </a:r>
            <a:r>
              <a:rPr lang="en-US" b="1" dirty="0" smtClean="0"/>
              <a:t>Syntax:   </a:t>
            </a:r>
          </a:p>
          <a:p>
            <a:r>
              <a:rPr lang="en-US" b="1" dirty="0"/>
              <a:t>	 </a:t>
            </a:r>
            <a:r>
              <a:rPr lang="en-US" b="1" dirty="0" smtClean="0"/>
              <a:t>      </a:t>
            </a:r>
            <a:r>
              <a:rPr lang="en-US" dirty="0" smtClean="0"/>
              <a:t> </a:t>
            </a:r>
            <a:r>
              <a:rPr lang="en-US" dirty="0"/>
              <a:t>switch(day){</a:t>
            </a:r>
          </a:p>
          <a:p>
            <a:r>
              <a:rPr lang="en-US" dirty="0"/>
              <a:t>        </a:t>
            </a:r>
            <a:r>
              <a:rPr lang="en-US" dirty="0" smtClean="0"/>
              <a:t>		case </a:t>
            </a:r>
            <a:r>
              <a:rPr lang="en-US" dirty="0"/>
              <a:t>1</a:t>
            </a:r>
            <a:r>
              <a:rPr lang="en-US" dirty="0" smtClean="0"/>
              <a:t>: Process(if input is 1);</a:t>
            </a:r>
            <a:endParaRPr lang="en-US" dirty="0"/>
          </a:p>
          <a:p>
            <a:r>
              <a:rPr lang="en-US" dirty="0"/>
              <a:t>               </a:t>
            </a:r>
            <a:r>
              <a:rPr lang="en-US" dirty="0" smtClean="0"/>
              <a:t>			 </a:t>
            </a:r>
            <a:r>
              <a:rPr lang="en-US" dirty="0"/>
              <a:t>break;</a:t>
            </a:r>
          </a:p>
          <a:p>
            <a:r>
              <a:rPr lang="en-US" dirty="0"/>
              <a:t>        </a:t>
            </a:r>
            <a:r>
              <a:rPr lang="en-US" dirty="0" smtClean="0"/>
              <a:t>		case </a:t>
            </a:r>
            <a:r>
              <a:rPr lang="en-US" dirty="0"/>
              <a:t>2</a:t>
            </a:r>
            <a:r>
              <a:rPr lang="en-US" dirty="0" smtClean="0"/>
              <a:t>: </a:t>
            </a:r>
            <a:r>
              <a:rPr lang="en-US" dirty="0"/>
              <a:t>Process(if input is </a:t>
            </a:r>
            <a:r>
              <a:rPr lang="en-US" dirty="0" smtClean="0"/>
              <a:t>2);</a:t>
            </a:r>
            <a:endParaRPr lang="en-US" dirty="0"/>
          </a:p>
          <a:p>
            <a:r>
              <a:rPr lang="en-US" dirty="0" smtClean="0"/>
              <a:t>             			  break</a:t>
            </a:r>
            <a:r>
              <a:rPr lang="en-US" dirty="0"/>
              <a:t>;</a:t>
            </a:r>
          </a:p>
          <a:p>
            <a:r>
              <a:rPr lang="en-US" dirty="0"/>
              <a:t>      </a:t>
            </a:r>
            <a:r>
              <a:rPr lang="en-US" dirty="0" smtClean="0"/>
              <a:t>		 case </a:t>
            </a:r>
            <a:r>
              <a:rPr lang="en-US" dirty="0"/>
              <a:t>3</a:t>
            </a:r>
            <a:r>
              <a:rPr lang="en-US" dirty="0" smtClean="0"/>
              <a:t>: </a:t>
            </a:r>
            <a:r>
              <a:rPr lang="en-US" dirty="0"/>
              <a:t>Process(if input is 3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 smtClean="0"/>
              <a:t>               			  break;</a:t>
            </a:r>
          </a:p>
          <a:p>
            <a:r>
              <a:rPr lang="en-US" b="1" dirty="0"/>
              <a:t>	</a:t>
            </a:r>
            <a:r>
              <a:rPr lang="en-US" b="1" dirty="0" smtClean="0"/>
              <a:t>	</a:t>
            </a:r>
          </a:p>
          <a:p>
            <a:r>
              <a:rPr lang="en-US" b="1" dirty="0"/>
              <a:t>	</a:t>
            </a:r>
            <a:r>
              <a:rPr lang="en-US" b="1" dirty="0" smtClean="0"/>
              <a:t>	</a:t>
            </a:r>
            <a:r>
              <a:rPr lang="en-US" dirty="0"/>
              <a:t> default </a:t>
            </a:r>
            <a:r>
              <a:rPr lang="en-US" dirty="0" smtClean="0"/>
              <a:t>: </a:t>
            </a:r>
            <a:r>
              <a:rPr lang="en-US" dirty="0"/>
              <a:t>Process(if </a:t>
            </a:r>
            <a:r>
              <a:rPr lang="en-US" dirty="0" smtClean="0"/>
              <a:t>input not available );</a:t>
            </a:r>
            <a:endParaRPr lang="en-US" dirty="0"/>
          </a:p>
          <a:p>
            <a:r>
              <a:rPr lang="en-US" b="1" dirty="0"/>
              <a:t>	</a:t>
            </a:r>
            <a:r>
              <a:rPr lang="en-US" b="1" dirty="0" smtClean="0"/>
              <a:t>	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549081" y="2059459"/>
            <a:ext cx="5074508" cy="479854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 smtClean="0"/>
              <a:t>Ex:</a:t>
            </a:r>
          </a:p>
          <a:p>
            <a:r>
              <a:rPr lang="en-US" sz="1100" dirty="0" smtClean="0"/>
              <a:t>#include&lt;</a:t>
            </a:r>
            <a:r>
              <a:rPr lang="en-US" sz="1100" dirty="0" err="1" smtClean="0"/>
              <a:t>stdio.h</a:t>
            </a:r>
            <a:r>
              <a:rPr lang="en-US" sz="1100" dirty="0" smtClean="0"/>
              <a:t>&gt;</a:t>
            </a:r>
            <a:endParaRPr lang="en-US" sz="1100" dirty="0"/>
          </a:p>
          <a:p>
            <a:r>
              <a:rPr lang="en-US" sz="1100" dirty="0" err="1"/>
              <a:t>int</a:t>
            </a:r>
            <a:r>
              <a:rPr lang="en-US" sz="1100" dirty="0"/>
              <a:t> main</a:t>
            </a:r>
            <a:r>
              <a:rPr lang="en-US" sz="1100" dirty="0" smtClean="0"/>
              <a:t>(){</a:t>
            </a:r>
            <a:endParaRPr lang="en-US" sz="1100" dirty="0"/>
          </a:p>
          <a:p>
            <a:r>
              <a:rPr lang="en-US" sz="1100" dirty="0"/>
              <a:t>  </a:t>
            </a:r>
            <a:r>
              <a:rPr lang="en-US" sz="1100" dirty="0" err="1"/>
              <a:t>int</a:t>
            </a:r>
            <a:r>
              <a:rPr lang="en-US" sz="1100" dirty="0"/>
              <a:t> day;</a:t>
            </a:r>
          </a:p>
          <a:p>
            <a:r>
              <a:rPr lang="en-US" sz="1100" dirty="0"/>
              <a:t>  </a:t>
            </a:r>
            <a:r>
              <a:rPr lang="en-US" sz="1100" dirty="0" err="1"/>
              <a:t>printf</a:t>
            </a:r>
            <a:r>
              <a:rPr lang="en-US" sz="1100" dirty="0"/>
              <a:t>("Enter day(1-7): ");</a:t>
            </a:r>
          </a:p>
          <a:p>
            <a:r>
              <a:rPr lang="en-US" sz="1100" dirty="0"/>
              <a:t>  scanf("%d", &amp;day);</a:t>
            </a:r>
          </a:p>
          <a:p>
            <a:endParaRPr lang="en-US" sz="1100" dirty="0"/>
          </a:p>
          <a:p>
            <a:r>
              <a:rPr lang="en-US" sz="1100" dirty="0"/>
              <a:t>  switch(day</a:t>
            </a:r>
            <a:r>
              <a:rPr lang="en-US" sz="1100" dirty="0" smtClean="0"/>
              <a:t>){</a:t>
            </a:r>
            <a:endParaRPr lang="en-US" sz="1100" dirty="0"/>
          </a:p>
          <a:p>
            <a:r>
              <a:rPr lang="en-US" sz="1100" dirty="0"/>
              <a:t>        case 1:printf("</a:t>
            </a:r>
            <a:r>
              <a:rPr lang="en-US" sz="1100" dirty="0" err="1"/>
              <a:t>monday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r>
              <a:rPr lang="en-US" sz="1100" dirty="0"/>
              <a:t>        case 2:printf("</a:t>
            </a:r>
            <a:r>
              <a:rPr lang="en-US" sz="1100" dirty="0" err="1"/>
              <a:t>tuesday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r>
              <a:rPr lang="en-US" sz="1100" dirty="0"/>
              <a:t>        case 3:printf("</a:t>
            </a:r>
            <a:r>
              <a:rPr lang="en-US" sz="1100" dirty="0" err="1"/>
              <a:t>wednesday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r>
              <a:rPr lang="en-US" sz="1100" dirty="0"/>
              <a:t>        case 4:printf("</a:t>
            </a:r>
            <a:r>
              <a:rPr lang="en-US" sz="1100" dirty="0" err="1"/>
              <a:t>thursday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r>
              <a:rPr lang="en-US" sz="1100" dirty="0"/>
              <a:t>        case 5:printf("</a:t>
            </a:r>
            <a:r>
              <a:rPr lang="en-US" sz="1100" dirty="0" err="1"/>
              <a:t>friday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r>
              <a:rPr lang="en-US" sz="1100" dirty="0"/>
              <a:t>        case 6:printf("</a:t>
            </a:r>
            <a:r>
              <a:rPr lang="en-US" sz="1100" dirty="0" err="1"/>
              <a:t>saturday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r>
              <a:rPr lang="en-US" sz="1100" dirty="0"/>
              <a:t>        case 7:printf("</a:t>
            </a:r>
            <a:r>
              <a:rPr lang="en-US" sz="1100" dirty="0" err="1"/>
              <a:t>sunday</a:t>
            </a:r>
            <a:r>
              <a:rPr lang="en-US" sz="1100" dirty="0"/>
              <a:t>");</a:t>
            </a:r>
          </a:p>
          <a:p>
            <a:r>
              <a:rPr lang="en-US" sz="1100" dirty="0"/>
              <a:t>                break;</a:t>
            </a:r>
          </a:p>
          <a:p>
            <a:endParaRPr lang="en-US" sz="1100" dirty="0"/>
          </a:p>
          <a:p>
            <a:r>
              <a:rPr lang="en-US" sz="1100" dirty="0"/>
              <a:t>        default :</a:t>
            </a:r>
            <a:r>
              <a:rPr lang="en-US" sz="1100" dirty="0" err="1"/>
              <a:t>printf</a:t>
            </a:r>
            <a:r>
              <a:rPr lang="en-US" sz="1100" dirty="0"/>
              <a:t>("not valid");</a:t>
            </a:r>
          </a:p>
          <a:p>
            <a:r>
              <a:rPr lang="en-US" sz="1100" dirty="0"/>
              <a:t>  }</a:t>
            </a:r>
          </a:p>
          <a:p>
            <a:r>
              <a:rPr lang="en-US" sz="1100" dirty="0"/>
              <a:t>  return 0;</a:t>
            </a:r>
          </a:p>
          <a:p>
            <a:r>
              <a:rPr lang="en-US" sz="1100" dirty="0" smtClean="0"/>
              <a:t>}</a:t>
            </a:r>
            <a:endParaRPr lang="en-US" sz="1100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339546" y="2858530"/>
            <a:ext cx="323269" cy="2224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62815" y="2653967"/>
            <a:ext cx="731174" cy="3981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Input Variable</a:t>
            </a:r>
            <a:endParaRPr lang="en-US" sz="12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662815" y="5469924"/>
            <a:ext cx="105099" cy="3707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608173" y="3707027"/>
            <a:ext cx="1062681" cy="329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70854" y="3356918"/>
            <a:ext cx="1712362" cy="76611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Breaks the switch if current case is true.</a:t>
            </a:r>
            <a:endParaRPr lang="en-US" sz="1200" dirty="0"/>
          </a:p>
        </p:txBody>
      </p:sp>
      <p:sp>
        <p:nvSpPr>
          <p:cNvPr id="19" name="Oval 18"/>
          <p:cNvSpPr/>
          <p:nvPr/>
        </p:nvSpPr>
        <p:spPr>
          <a:xfrm>
            <a:off x="2113005" y="5835156"/>
            <a:ext cx="1495168" cy="5632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Works if all case is false.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568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994" y="98854"/>
            <a:ext cx="695273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Nested Switch </a:t>
            </a:r>
            <a:r>
              <a:rPr lang="en-US" dirty="0" smtClean="0"/>
              <a:t>: (Switch in switch)</a:t>
            </a:r>
          </a:p>
          <a:p>
            <a:r>
              <a:rPr lang="en-US" dirty="0" smtClean="0"/>
              <a:t>	</a:t>
            </a:r>
            <a:r>
              <a:rPr lang="en-US" b="1" dirty="0" smtClean="0"/>
              <a:t>Syntax: </a:t>
            </a:r>
          </a:p>
          <a:p>
            <a:r>
              <a:rPr lang="en-US" sz="1600" b="1" dirty="0" smtClean="0"/>
              <a:t>	</a:t>
            </a:r>
            <a:r>
              <a:rPr lang="en-US" sz="1600" dirty="0" smtClean="0"/>
              <a:t>switch (</a:t>
            </a:r>
            <a:r>
              <a:rPr lang="en-US" sz="1600" dirty="0" smtClean="0">
                <a:solidFill>
                  <a:srgbClr val="FF0000"/>
                </a:solidFill>
              </a:rPr>
              <a:t>x</a:t>
            </a:r>
            <a:r>
              <a:rPr lang="en-US" sz="1600" dirty="0" smtClean="0"/>
              <a:t>) {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	 case 1: Process(if </a:t>
            </a:r>
            <a:r>
              <a:rPr lang="en-US" sz="1600" dirty="0" smtClean="0">
                <a:solidFill>
                  <a:srgbClr val="FF0000"/>
                </a:solidFill>
              </a:rPr>
              <a:t>x</a:t>
            </a:r>
            <a:r>
              <a:rPr lang="en-US" sz="1600" dirty="0" smtClean="0"/>
              <a:t> input is 1); 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                   		switch (y) {</a:t>
            </a:r>
          </a:p>
          <a:p>
            <a:pPr lvl="5"/>
            <a:r>
              <a:rPr lang="en-US" sz="1600" dirty="0" smtClean="0"/>
              <a:t>     	        case 1: Process(if</a:t>
            </a:r>
            <a:r>
              <a:rPr lang="en-US" sz="1600" dirty="0" smtClean="0">
                <a:solidFill>
                  <a:srgbClr val="FF0000"/>
                </a:solidFill>
              </a:rPr>
              <a:t> x </a:t>
            </a:r>
            <a:r>
              <a:rPr lang="en-US" sz="1600" dirty="0" smtClean="0"/>
              <a:t>input is 1 &amp; </a:t>
            </a:r>
            <a:r>
              <a:rPr lang="en-US" sz="1600" dirty="0" smtClean="0">
                <a:solidFill>
                  <a:srgbClr val="FF0000"/>
                </a:solidFill>
              </a:rPr>
              <a:t>y</a:t>
            </a:r>
            <a:r>
              <a:rPr lang="en-US" sz="1600" dirty="0" smtClean="0"/>
              <a:t> input is 1);                        		break;</a:t>
            </a:r>
          </a:p>
          <a:p>
            <a:pPr lvl="5"/>
            <a:r>
              <a:rPr lang="en-US" sz="1600" dirty="0" smtClean="0"/>
              <a:t>                  case 2: Process(if </a:t>
            </a:r>
            <a:r>
              <a:rPr lang="en-US" sz="1600" dirty="0">
                <a:solidFill>
                  <a:srgbClr val="FF0000"/>
                </a:solidFill>
              </a:rPr>
              <a:t>x </a:t>
            </a:r>
            <a:r>
              <a:rPr lang="en-US" sz="1600" dirty="0"/>
              <a:t>input is 1 </a:t>
            </a:r>
            <a:r>
              <a:rPr lang="en-US" sz="1600" dirty="0" smtClean="0"/>
              <a:t>&amp; </a:t>
            </a:r>
            <a:r>
              <a:rPr lang="en-US" sz="1600" dirty="0" smtClean="0">
                <a:solidFill>
                  <a:srgbClr val="FF0000"/>
                </a:solidFill>
              </a:rPr>
              <a:t>y</a:t>
            </a:r>
            <a:r>
              <a:rPr lang="en-US" sz="1600" dirty="0" smtClean="0"/>
              <a:t> input is 2);</a:t>
            </a:r>
          </a:p>
          <a:p>
            <a:pPr lvl="5"/>
            <a:r>
              <a:rPr lang="en-US" sz="1600" dirty="0" smtClean="0"/>
              <a:t>                        	break;</a:t>
            </a:r>
          </a:p>
          <a:p>
            <a:pPr lvl="5"/>
            <a:r>
              <a:rPr lang="en-US" sz="1600" dirty="0" smtClean="0"/>
              <a:t>                    }</a:t>
            </a:r>
          </a:p>
          <a:p>
            <a:pPr lvl="4"/>
            <a:r>
              <a:rPr lang="en-US" sz="1600" dirty="0" smtClean="0"/>
              <a:t>        break;</a:t>
            </a:r>
          </a:p>
          <a:p>
            <a:pPr lvl="4"/>
            <a:endParaRPr lang="en-US" sz="1600" dirty="0" smtClean="0"/>
          </a:p>
          <a:p>
            <a:pPr lvl="4"/>
            <a:r>
              <a:rPr lang="en-US" sz="1600" dirty="0" smtClean="0"/>
              <a:t> case 2: Process(if </a:t>
            </a:r>
            <a:r>
              <a:rPr lang="en-US" sz="1600" dirty="0" smtClean="0">
                <a:solidFill>
                  <a:srgbClr val="FF0000"/>
                </a:solidFill>
              </a:rPr>
              <a:t>x</a:t>
            </a:r>
            <a:r>
              <a:rPr lang="en-US" sz="1600" dirty="0" smtClean="0"/>
              <a:t> input is 2);</a:t>
            </a:r>
          </a:p>
          <a:p>
            <a:pPr lvl="4"/>
            <a:r>
              <a:rPr lang="en-US" sz="1600" dirty="0" smtClean="0"/>
              <a:t>                    switch (y) {</a:t>
            </a:r>
          </a:p>
          <a:p>
            <a:pPr lvl="5"/>
            <a:r>
              <a:rPr lang="en-US" sz="1600" dirty="0" smtClean="0"/>
              <a:t>                   case 1: Process(if </a:t>
            </a:r>
            <a:r>
              <a:rPr lang="en-US" sz="1600" dirty="0">
                <a:solidFill>
                  <a:srgbClr val="FF0000"/>
                </a:solidFill>
              </a:rPr>
              <a:t>x </a:t>
            </a:r>
            <a:r>
              <a:rPr lang="en-US" sz="1600" dirty="0"/>
              <a:t>input is </a:t>
            </a:r>
            <a:r>
              <a:rPr lang="en-US" sz="1600" dirty="0" smtClean="0"/>
              <a:t>2 &amp; </a:t>
            </a:r>
            <a:r>
              <a:rPr lang="en-US" sz="1600" dirty="0" smtClean="0">
                <a:solidFill>
                  <a:srgbClr val="FF0000"/>
                </a:solidFill>
              </a:rPr>
              <a:t>y</a:t>
            </a:r>
            <a:r>
              <a:rPr lang="en-US" sz="1600" dirty="0" smtClean="0"/>
              <a:t> input is 1);                        		break;</a:t>
            </a:r>
          </a:p>
          <a:p>
            <a:pPr lvl="5"/>
            <a:r>
              <a:rPr lang="en-US" sz="1600" dirty="0" smtClean="0"/>
              <a:t>                   case 2: Process(if </a:t>
            </a:r>
            <a:r>
              <a:rPr lang="en-US" sz="1600" dirty="0">
                <a:solidFill>
                  <a:srgbClr val="FF0000"/>
                </a:solidFill>
              </a:rPr>
              <a:t>x </a:t>
            </a:r>
            <a:r>
              <a:rPr lang="en-US" sz="1600" dirty="0"/>
              <a:t>input is </a:t>
            </a:r>
            <a:r>
              <a:rPr lang="en-US" sz="1600" dirty="0" smtClean="0"/>
              <a:t>2 &amp; </a:t>
            </a:r>
            <a:r>
              <a:rPr lang="en-US" sz="1600" dirty="0" smtClean="0">
                <a:solidFill>
                  <a:srgbClr val="FF0000"/>
                </a:solidFill>
              </a:rPr>
              <a:t>y</a:t>
            </a:r>
            <a:r>
              <a:rPr lang="en-US" sz="1600" dirty="0" smtClean="0"/>
              <a:t> input is 2);</a:t>
            </a:r>
          </a:p>
          <a:p>
            <a:pPr lvl="5"/>
            <a:r>
              <a:rPr lang="en-US" sz="1600" dirty="0" smtClean="0"/>
              <a:t>                        	break;</a:t>
            </a:r>
          </a:p>
          <a:p>
            <a:pPr lvl="5"/>
            <a:r>
              <a:rPr lang="en-US" sz="1600" dirty="0" smtClean="0"/>
              <a:t>                    }</a:t>
            </a:r>
          </a:p>
          <a:p>
            <a:pPr lvl="4"/>
            <a:r>
              <a:rPr lang="en-US" sz="1600" dirty="0" smtClean="0"/>
              <a:t>        break;</a:t>
            </a:r>
          </a:p>
          <a:p>
            <a:pPr lvl="4"/>
            <a:endParaRPr lang="en-US" sz="1600" dirty="0" smtClean="0"/>
          </a:p>
          <a:p>
            <a:pPr lvl="4"/>
            <a:r>
              <a:rPr lang="en-US" sz="1600" dirty="0" smtClean="0"/>
              <a:t>    default: </a:t>
            </a:r>
            <a:r>
              <a:rPr lang="en-US" sz="1600" dirty="0" err="1" smtClean="0"/>
              <a:t>printf</a:t>
            </a:r>
            <a:r>
              <a:rPr lang="en-US" sz="1600" dirty="0" smtClean="0"/>
              <a:t>( "Choice is not available");</a:t>
            </a:r>
            <a:endParaRPr lang="en-US" sz="1600" b="1" dirty="0"/>
          </a:p>
        </p:txBody>
      </p:sp>
      <p:sp>
        <p:nvSpPr>
          <p:cNvPr id="3" name="Rectangle 2"/>
          <p:cNvSpPr/>
          <p:nvPr/>
        </p:nvSpPr>
        <p:spPr>
          <a:xfrm>
            <a:off x="7191632" y="49428"/>
            <a:ext cx="4860324" cy="67444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 smtClean="0"/>
              <a:t>Ex:</a:t>
            </a:r>
          </a:p>
          <a:p>
            <a:r>
              <a:rPr lang="en-US" sz="1050" dirty="0" smtClean="0"/>
              <a:t>#include </a:t>
            </a:r>
            <a:r>
              <a:rPr lang="en-US" sz="1050" dirty="0"/>
              <a:t>&lt;</a:t>
            </a:r>
            <a:r>
              <a:rPr lang="en-US" sz="1050" dirty="0" err="1"/>
              <a:t>stdio.h</a:t>
            </a:r>
            <a:r>
              <a:rPr lang="en-US" sz="1050" dirty="0"/>
              <a:t>&gt;</a:t>
            </a:r>
          </a:p>
          <a:p>
            <a:endParaRPr lang="en-US" sz="1050" dirty="0"/>
          </a:p>
          <a:p>
            <a:r>
              <a:rPr lang="en-US" sz="1050" dirty="0" err="1"/>
              <a:t>int</a:t>
            </a:r>
            <a:r>
              <a:rPr lang="en-US" sz="1050" dirty="0"/>
              <a:t> main()</a:t>
            </a:r>
          </a:p>
          <a:p>
            <a:r>
              <a:rPr lang="en-US" sz="1050" dirty="0"/>
              <a:t>{</a:t>
            </a:r>
          </a:p>
          <a:p>
            <a:r>
              <a:rPr lang="en-US" sz="1050" dirty="0"/>
              <a:t>    </a:t>
            </a:r>
            <a:r>
              <a:rPr lang="en-US" sz="1050" dirty="0" err="1"/>
              <a:t>int</a:t>
            </a:r>
            <a:r>
              <a:rPr lang="en-US" sz="1050" dirty="0"/>
              <a:t> x = 1, y = 2;</a:t>
            </a:r>
          </a:p>
          <a:p>
            <a:endParaRPr lang="en-US" sz="1050" dirty="0"/>
          </a:p>
          <a:p>
            <a:r>
              <a:rPr lang="en-US" sz="1050" dirty="0"/>
              <a:t>    switch (x) {</a:t>
            </a:r>
          </a:p>
          <a:p>
            <a:r>
              <a:rPr lang="en-US" sz="1050" dirty="0"/>
              <a:t>   </a:t>
            </a:r>
          </a:p>
          <a:p>
            <a:r>
              <a:rPr lang="en-US" sz="1050" dirty="0"/>
              <a:t>        case 1:  </a:t>
            </a:r>
            <a:r>
              <a:rPr lang="en-US" sz="1050" dirty="0" err="1"/>
              <a:t>printf</a:t>
            </a:r>
            <a:r>
              <a:rPr lang="en-US" sz="1050" dirty="0"/>
              <a:t>( "Choice x is 1");</a:t>
            </a:r>
          </a:p>
          <a:p>
            <a:endParaRPr lang="en-US" sz="1050" dirty="0"/>
          </a:p>
          <a:p>
            <a:r>
              <a:rPr lang="en-US" sz="1050" dirty="0"/>
              <a:t>                    switch (y) {</a:t>
            </a:r>
          </a:p>
          <a:p>
            <a:endParaRPr lang="en-US" sz="1050" dirty="0"/>
          </a:p>
          <a:p>
            <a:r>
              <a:rPr lang="en-US" sz="1050" dirty="0"/>
              <a:t>                    case 1:</a:t>
            </a:r>
          </a:p>
          <a:p>
            <a:r>
              <a:rPr lang="en-US" sz="1050" dirty="0"/>
              <a:t>                        </a:t>
            </a:r>
            <a:r>
              <a:rPr lang="en-US" sz="1050" dirty="0" err="1"/>
              <a:t>printf</a:t>
            </a:r>
            <a:r>
              <a:rPr lang="en-US" sz="1050" dirty="0"/>
              <a:t>( "Choice y is 1");</a:t>
            </a:r>
          </a:p>
          <a:p>
            <a:r>
              <a:rPr lang="en-US" sz="1050" dirty="0"/>
              <a:t>                        break;</a:t>
            </a:r>
          </a:p>
          <a:p>
            <a:endParaRPr lang="en-US" sz="1050" dirty="0"/>
          </a:p>
          <a:p>
            <a:r>
              <a:rPr lang="en-US" sz="1050" dirty="0"/>
              <a:t>                    case 2:</a:t>
            </a:r>
          </a:p>
          <a:p>
            <a:r>
              <a:rPr lang="en-US" sz="1050" dirty="0"/>
              <a:t>                        </a:t>
            </a:r>
            <a:r>
              <a:rPr lang="en-US" sz="1050" dirty="0" err="1"/>
              <a:t>printf</a:t>
            </a:r>
            <a:r>
              <a:rPr lang="en-US" sz="1050" dirty="0"/>
              <a:t>( "Choice y is 2");</a:t>
            </a:r>
          </a:p>
          <a:p>
            <a:r>
              <a:rPr lang="en-US" sz="1050" dirty="0"/>
              <a:t>                        break;</a:t>
            </a:r>
          </a:p>
          <a:p>
            <a:r>
              <a:rPr lang="en-US" sz="1050" dirty="0"/>
              <a:t>                    }</a:t>
            </a:r>
          </a:p>
          <a:p>
            <a:r>
              <a:rPr lang="en-US" sz="1050" dirty="0"/>
              <a:t>        break;</a:t>
            </a:r>
          </a:p>
          <a:p>
            <a:endParaRPr lang="en-US" sz="1050" dirty="0"/>
          </a:p>
          <a:p>
            <a:r>
              <a:rPr lang="en-US" sz="1050" dirty="0"/>
              <a:t>        case 2:  </a:t>
            </a:r>
            <a:r>
              <a:rPr lang="en-US" sz="1050" dirty="0" err="1"/>
              <a:t>printf</a:t>
            </a:r>
            <a:r>
              <a:rPr lang="en-US" sz="1050" dirty="0"/>
              <a:t>( "Choice x is 2");</a:t>
            </a:r>
          </a:p>
          <a:p>
            <a:r>
              <a:rPr lang="en-US" sz="1050" dirty="0"/>
              <a:t>        </a:t>
            </a:r>
          </a:p>
          <a:p>
            <a:r>
              <a:rPr lang="en-US" sz="1050" dirty="0"/>
              <a:t>                    switch (y) {</a:t>
            </a:r>
          </a:p>
          <a:p>
            <a:endParaRPr lang="en-US" sz="1050" dirty="0"/>
          </a:p>
          <a:p>
            <a:r>
              <a:rPr lang="en-US" sz="1050" dirty="0"/>
              <a:t>                    case 1:</a:t>
            </a:r>
          </a:p>
          <a:p>
            <a:r>
              <a:rPr lang="en-US" sz="1050" dirty="0"/>
              <a:t>                        </a:t>
            </a:r>
            <a:r>
              <a:rPr lang="en-US" sz="1050" dirty="0" err="1"/>
              <a:t>printf</a:t>
            </a:r>
            <a:r>
              <a:rPr lang="en-US" sz="1050" dirty="0"/>
              <a:t>( "Choice y is 1");</a:t>
            </a:r>
          </a:p>
          <a:p>
            <a:r>
              <a:rPr lang="en-US" sz="1050" dirty="0"/>
              <a:t>                        break;</a:t>
            </a:r>
          </a:p>
          <a:p>
            <a:r>
              <a:rPr lang="en-US" sz="1050" dirty="0"/>
              <a:t>                    </a:t>
            </a:r>
          </a:p>
          <a:p>
            <a:r>
              <a:rPr lang="en-US" sz="1050" dirty="0"/>
              <a:t>                    case 2:</a:t>
            </a:r>
          </a:p>
          <a:p>
            <a:r>
              <a:rPr lang="en-US" sz="1050" dirty="0"/>
              <a:t>                        </a:t>
            </a:r>
            <a:r>
              <a:rPr lang="en-US" sz="1050" dirty="0" err="1"/>
              <a:t>printf</a:t>
            </a:r>
            <a:r>
              <a:rPr lang="en-US" sz="1050" dirty="0"/>
              <a:t>( "Choice y is 2");</a:t>
            </a:r>
          </a:p>
          <a:p>
            <a:r>
              <a:rPr lang="en-US" sz="1050" dirty="0"/>
              <a:t>                        break;</a:t>
            </a:r>
          </a:p>
          <a:p>
            <a:r>
              <a:rPr lang="en-US" sz="1050" dirty="0"/>
              <a:t>                    }</a:t>
            </a:r>
          </a:p>
          <a:p>
            <a:r>
              <a:rPr lang="en-US" sz="1050" dirty="0"/>
              <a:t>        break;</a:t>
            </a:r>
          </a:p>
          <a:p>
            <a:endParaRPr lang="en-US" sz="1050" dirty="0"/>
          </a:p>
          <a:p>
            <a:r>
              <a:rPr lang="en-US" sz="1050" dirty="0"/>
              <a:t>    default: </a:t>
            </a:r>
            <a:r>
              <a:rPr lang="en-US" sz="1050" dirty="0" err="1"/>
              <a:t>printf</a:t>
            </a:r>
            <a:r>
              <a:rPr lang="en-US" sz="1050" dirty="0"/>
              <a:t>( "Choice is not available");</a:t>
            </a:r>
          </a:p>
          <a:p>
            <a:endParaRPr lang="en-US" sz="1050" dirty="0"/>
          </a:p>
          <a:p>
            <a:r>
              <a:rPr lang="en-US" sz="1050" dirty="0"/>
              <a:t>    }</a:t>
            </a:r>
          </a:p>
          <a:p>
            <a:r>
              <a:rPr lang="en-US" sz="1050" dirty="0"/>
              <a:t>    return 0;</a:t>
            </a:r>
          </a:p>
          <a:p>
            <a:r>
              <a:rPr lang="en-US" sz="1050" dirty="0"/>
              <a:t>}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792627" y="1804086"/>
            <a:ext cx="1136822" cy="57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62681" y="1441621"/>
            <a:ext cx="1729946" cy="10956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Breaks the switch if the current case is true, or continues until the default or another case is true.</a:t>
            </a:r>
          </a:p>
        </p:txBody>
      </p:sp>
    </p:spTree>
    <p:extLst>
      <p:ext uri="{BB962C8B-B14F-4D97-AF65-F5344CB8AC3E}">
        <p14:creationId xmlns:p14="http://schemas.microsoft.com/office/powerpoint/2010/main" val="273926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708" y="172995"/>
            <a:ext cx="6822317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: 3 type. (</a:t>
            </a:r>
            <a:r>
              <a:rPr lang="en-US" dirty="0"/>
              <a:t>f</a:t>
            </a:r>
            <a:r>
              <a:rPr lang="en-US" dirty="0" smtClean="0"/>
              <a:t>or, while, do….while)</a:t>
            </a:r>
          </a:p>
          <a:p>
            <a:endParaRPr lang="en-US" dirty="0"/>
          </a:p>
          <a:p>
            <a:r>
              <a:rPr lang="en-US" dirty="0" smtClean="0"/>
              <a:t>     </a:t>
            </a:r>
            <a:r>
              <a:rPr lang="en-US" b="1" u="sng" dirty="0" smtClean="0"/>
              <a:t>For loop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b="1" dirty="0" smtClean="0"/>
              <a:t>Syntax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1700" dirty="0" smtClean="0"/>
              <a:t>for(initial statement; condition; upgrading statement){</a:t>
            </a:r>
          </a:p>
          <a:p>
            <a:r>
              <a:rPr lang="en-US" sz="1700" dirty="0" smtClean="0"/>
              <a:t>			Process;</a:t>
            </a:r>
            <a:endParaRPr lang="en-US" sz="1700" dirty="0"/>
          </a:p>
          <a:p>
            <a:r>
              <a:rPr lang="en-US" sz="1700" dirty="0" smtClean="0"/>
              <a:t>		}</a:t>
            </a:r>
            <a:endParaRPr lang="en-US" sz="1700" dirty="0"/>
          </a:p>
        </p:txBody>
      </p:sp>
      <p:sp>
        <p:nvSpPr>
          <p:cNvPr id="3" name="Rectangle 2"/>
          <p:cNvSpPr/>
          <p:nvPr/>
        </p:nvSpPr>
        <p:spPr>
          <a:xfrm>
            <a:off x="7743568" y="172995"/>
            <a:ext cx="4275438" cy="1375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Infinite loop: </a:t>
            </a:r>
            <a:r>
              <a:rPr lang="en-US" sz="1400" dirty="0" smtClean="0"/>
              <a:t>(</a:t>
            </a:r>
            <a:r>
              <a:rPr lang="en-US" sz="1400" dirty="0"/>
              <a:t>a program that repeats </a:t>
            </a:r>
            <a:r>
              <a:rPr lang="en-US" sz="1400" dirty="0" smtClean="0"/>
              <a:t>indefinitely)</a:t>
            </a:r>
            <a:endParaRPr lang="en-US" sz="1400" b="1" dirty="0" smtClean="0"/>
          </a:p>
          <a:p>
            <a:r>
              <a:rPr lang="en-US" sz="1400" dirty="0" smtClean="0"/>
              <a:t>Causes: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Incorrect Conditions.(Condition always true, No termination </a:t>
            </a:r>
            <a:r>
              <a:rPr lang="en-US" sz="1400" dirty="0" smtClean="0"/>
              <a:t>logic)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Missing Updates.(Forgetting to update </a:t>
            </a:r>
            <a:r>
              <a:rPr lang="en-US" sz="1400" dirty="0" smtClean="0"/>
              <a:t>variables)</a:t>
            </a:r>
            <a:endParaRPr 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197708" y="2204320"/>
            <a:ext cx="4893276" cy="3278660"/>
          </a:xfrm>
          <a:prstGeom prst="roundRect">
            <a:avLst>
              <a:gd name="adj" fmla="val 14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/>
              <a:t>Ex </a:t>
            </a:r>
            <a:r>
              <a:rPr lang="en-US" dirty="0" smtClean="0"/>
              <a:t>: (Printing number 1 to 10)</a:t>
            </a:r>
          </a:p>
          <a:p>
            <a:endParaRPr lang="en-US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	</a:t>
            </a:r>
            <a:r>
              <a:rPr lang="en-US" altLang="en-US" dirty="0">
                <a:solidFill>
                  <a:srgbClr val="61AEEE"/>
                </a:solidFill>
                <a:latin typeface="Droid Sans Mono"/>
              </a:rPr>
              <a:t>#include 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&lt;</a:t>
            </a:r>
            <a:r>
              <a:rPr lang="en-US" altLang="en-US" dirty="0" err="1">
                <a:solidFill>
                  <a:srgbClr val="98C379"/>
                </a:solidFill>
                <a:latin typeface="Droid Sans Mono"/>
              </a:rPr>
              <a:t>stdio.h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&gt;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 err="1">
                <a:solidFill>
                  <a:srgbClr val="C678DD"/>
                </a:solidFill>
                <a:latin typeface="Droid Sans Mono"/>
              </a:rPr>
              <a:t>int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61AEEE"/>
                </a:solidFill>
                <a:latin typeface="Droid Sans Mono"/>
              </a:rPr>
              <a:t>main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() {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C678DD"/>
                </a:solidFill>
                <a:latin typeface="Droid Sans Mono"/>
              </a:rPr>
              <a:t>int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C678DD"/>
                </a:solidFill>
                <a:latin typeface="Droid Sans Mono"/>
              </a:rPr>
              <a:t>for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= </a:t>
            </a:r>
            <a:r>
              <a:rPr lang="en-US" altLang="en-US" dirty="0">
                <a:solidFill>
                  <a:srgbClr val="D19A66"/>
                </a:solidFill>
                <a:latin typeface="Droid Sans Mono"/>
              </a:rPr>
              <a:t>1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;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&lt; </a:t>
            </a:r>
            <a:r>
              <a:rPr lang="en-US" altLang="en-US" dirty="0">
                <a:solidFill>
                  <a:srgbClr val="D19A66"/>
                </a:solidFill>
                <a:latin typeface="Droid Sans Mono"/>
              </a:rPr>
              <a:t>11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; ++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) {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E6C07B"/>
                </a:solidFill>
                <a:latin typeface="Droid Sans Mono"/>
              </a:rPr>
              <a:t>	</a:t>
            </a:r>
            <a:r>
              <a:rPr lang="en-US" altLang="en-US" dirty="0" err="1" smtClean="0">
                <a:solidFill>
                  <a:srgbClr val="E6C07B"/>
                </a:solidFill>
                <a:latin typeface="Droid Sans Mono"/>
              </a:rPr>
              <a:t>printf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"%d "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,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);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	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}</a:t>
            </a:r>
            <a:endParaRPr lang="en-US" altLang="en-US" dirty="0">
              <a:solidFill>
                <a:srgbClr val="D3D3D3"/>
              </a:solidFill>
              <a:latin typeface="Droid Sans Mono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C678DD"/>
                </a:solidFill>
                <a:latin typeface="Droid Sans Mono"/>
              </a:rPr>
              <a:t>return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D19A66"/>
                </a:solidFill>
                <a:latin typeface="Droid Sans Mono"/>
              </a:rPr>
              <a:t>0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}</a:t>
            </a:r>
            <a:r>
              <a:rPr lang="en-US" altLang="en-US" sz="1400" dirty="0" smtClean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 smtClean="0"/>
          </a:p>
          <a:p>
            <a:r>
              <a:rPr lang="en-US" dirty="0" smtClean="0"/>
              <a:t>Output: 1 2 3 4 5 6 7 8 9 10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78660" y="4948267"/>
            <a:ext cx="65" cy="276999"/>
          </a:xfrm>
          <a:prstGeom prst="rect">
            <a:avLst/>
          </a:prstGeom>
          <a:solidFill>
            <a:srgbClr val="383B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65125" y="2042796"/>
            <a:ext cx="692802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 smtClean="0"/>
              <a:t>Increment operators </a:t>
            </a:r>
            <a:r>
              <a:rPr lang="en-US" dirty="0" smtClean="0"/>
              <a:t>: 2 type.(Pre-increment , post increment)</a:t>
            </a:r>
          </a:p>
          <a:p>
            <a:endParaRPr lang="en-US" dirty="0" smtClean="0"/>
          </a:p>
          <a:p>
            <a:r>
              <a:rPr lang="en-US" dirty="0" smtClean="0"/>
              <a:t>			          (++</a:t>
            </a:r>
            <a:r>
              <a:rPr lang="en-US" dirty="0" err="1" smtClean="0"/>
              <a:t>i</a:t>
            </a:r>
            <a:r>
              <a:rPr lang="en-US" dirty="0" smtClean="0"/>
              <a:t>)	       (</a:t>
            </a:r>
            <a:r>
              <a:rPr lang="en-US" dirty="0" err="1" smtClean="0"/>
              <a:t>i</a:t>
            </a:r>
            <a:r>
              <a:rPr lang="en-US" dirty="0" smtClean="0"/>
              <a:t>++)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(</a:t>
            </a:r>
            <a:r>
              <a:rPr lang="en-US" sz="1600" dirty="0" err="1" smtClean="0"/>
              <a:t>i</a:t>
            </a:r>
            <a:r>
              <a:rPr lang="en-US" sz="1600" dirty="0"/>
              <a:t>++): In </a:t>
            </a:r>
            <a:r>
              <a:rPr lang="en-US" sz="1600" b="1" dirty="0"/>
              <a:t>post-increment</a:t>
            </a:r>
            <a:r>
              <a:rPr lang="en-US" sz="1600" dirty="0" smtClean="0"/>
              <a:t>, the </a:t>
            </a:r>
            <a:r>
              <a:rPr lang="en-US" sz="1600" dirty="0"/>
              <a:t>current value of the variable is </a:t>
            </a:r>
            <a:r>
              <a:rPr lang="en-US" sz="1600" b="1" dirty="0"/>
              <a:t>used first</a:t>
            </a:r>
            <a:r>
              <a:rPr lang="en-US" sz="1600" dirty="0"/>
              <a:t>, and then the variable is incremented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</a:t>
            </a:r>
            <a:r>
              <a:rPr lang="en-US" sz="1600" b="1" dirty="0" smtClean="0"/>
              <a:t>code:     </a:t>
            </a:r>
            <a:r>
              <a:rPr lang="en-US" sz="1600" dirty="0" err="1" smtClean="0"/>
              <a:t>printf</a:t>
            </a:r>
            <a:r>
              <a:rPr lang="en-US" sz="1600" dirty="0" smtClean="0"/>
              <a:t>(“%d\n”, </a:t>
            </a:r>
            <a:r>
              <a:rPr lang="en-US" sz="1600" dirty="0" err="1" smtClean="0"/>
              <a:t>i</a:t>
            </a:r>
            <a:r>
              <a:rPr lang="en-US" sz="1600" dirty="0" smtClean="0"/>
              <a:t>++);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printf</a:t>
            </a:r>
            <a:r>
              <a:rPr lang="en-US" sz="1600" dirty="0"/>
              <a:t>(“%d\n”, </a:t>
            </a:r>
            <a:r>
              <a:rPr lang="en-US" sz="1600" dirty="0" err="1" smtClean="0"/>
              <a:t>i</a:t>
            </a:r>
            <a:r>
              <a:rPr lang="en-US" sz="1600" dirty="0" smtClean="0"/>
              <a:t>);</a:t>
            </a:r>
          </a:p>
          <a:p>
            <a:r>
              <a:rPr lang="en-US" sz="1600" dirty="0" smtClean="0"/>
              <a:t>     </a:t>
            </a:r>
            <a:r>
              <a:rPr lang="en-US" sz="1600" b="1" dirty="0" smtClean="0"/>
              <a:t>Output</a:t>
            </a:r>
            <a:r>
              <a:rPr lang="en-US" sz="1600" dirty="0" smtClean="0"/>
              <a:t>: (if </a:t>
            </a:r>
            <a:r>
              <a:rPr lang="en-US" sz="1600" dirty="0" err="1" smtClean="0"/>
              <a:t>i</a:t>
            </a:r>
            <a:r>
              <a:rPr lang="en-US" sz="1600" dirty="0" smtClean="0"/>
              <a:t>=1) </a:t>
            </a:r>
            <a:r>
              <a:rPr lang="en-US" sz="1600" dirty="0" smtClean="0">
                <a:sym typeface="Wingdings" panose="05000000000000000000" pitchFamily="2" charset="2"/>
              </a:rPr>
              <a:t>  1     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i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=1,i+1=2 in next line)</a:t>
            </a:r>
          </a:p>
          <a:p>
            <a:r>
              <a:rPr lang="en-US" sz="1600" dirty="0" smtClean="0">
                <a:sym typeface="Wingdings" panose="05000000000000000000" pitchFamily="2" charset="2"/>
              </a:rPr>
              <a:t>		2</a:t>
            </a: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(++</a:t>
            </a:r>
            <a:r>
              <a:rPr lang="en-US" sz="1600" dirty="0" err="1" smtClean="0"/>
              <a:t>i</a:t>
            </a:r>
            <a:r>
              <a:rPr lang="en-US" sz="1600" dirty="0"/>
              <a:t>): In </a:t>
            </a:r>
            <a:r>
              <a:rPr lang="en-US" sz="1600" b="1" dirty="0"/>
              <a:t>pre-increment</a:t>
            </a:r>
            <a:r>
              <a:rPr lang="en-US" sz="1600" dirty="0"/>
              <a:t>, the value of the variable is </a:t>
            </a:r>
            <a:r>
              <a:rPr lang="en-US" sz="1600" b="1" dirty="0"/>
              <a:t>incremented first</a:t>
            </a:r>
            <a:r>
              <a:rPr lang="en-US" sz="1600" dirty="0"/>
              <a:t>, and then the incremented value is used in the expression.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 </a:t>
            </a:r>
            <a:r>
              <a:rPr lang="en-US" sz="1600" b="1" dirty="0"/>
              <a:t>code:     </a:t>
            </a:r>
            <a:r>
              <a:rPr lang="en-US" sz="1600" dirty="0" err="1"/>
              <a:t>printf</a:t>
            </a:r>
            <a:r>
              <a:rPr lang="en-US" sz="1600" dirty="0"/>
              <a:t>(“%d\n”, </a:t>
            </a:r>
            <a:r>
              <a:rPr lang="en-US" sz="1600" dirty="0" err="1"/>
              <a:t>i</a:t>
            </a:r>
            <a:r>
              <a:rPr lang="en-US" sz="1600" dirty="0"/>
              <a:t>++);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printf</a:t>
            </a:r>
            <a:r>
              <a:rPr lang="en-US" sz="1600" dirty="0"/>
              <a:t>(“%d\n”, </a:t>
            </a:r>
            <a:r>
              <a:rPr lang="en-US" sz="1600" dirty="0" err="1"/>
              <a:t>i</a:t>
            </a:r>
            <a:r>
              <a:rPr lang="en-US" sz="1600" dirty="0"/>
              <a:t>);</a:t>
            </a:r>
          </a:p>
          <a:p>
            <a:r>
              <a:rPr lang="en-US" sz="1600" dirty="0"/>
              <a:t>     </a:t>
            </a:r>
            <a:r>
              <a:rPr lang="en-US" sz="1600" b="1" dirty="0"/>
              <a:t>Output</a:t>
            </a:r>
            <a:r>
              <a:rPr lang="en-US" sz="1600" dirty="0"/>
              <a:t>: (if </a:t>
            </a:r>
            <a:r>
              <a:rPr lang="en-US" sz="1600" dirty="0" err="1"/>
              <a:t>i</a:t>
            </a:r>
            <a:r>
              <a:rPr lang="en-US" sz="1600" dirty="0"/>
              <a:t>=1) </a:t>
            </a:r>
            <a:r>
              <a:rPr lang="en-US" sz="1600" dirty="0">
                <a:sym typeface="Wingdings" panose="05000000000000000000" pitchFamily="2" charset="2"/>
              </a:rPr>
              <a:t>  </a:t>
            </a:r>
            <a:r>
              <a:rPr lang="en-US" sz="1600" dirty="0" smtClean="0">
                <a:sym typeface="Wingdings" panose="05000000000000000000" pitchFamily="2" charset="2"/>
              </a:rPr>
              <a:t>2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i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=1,i+1=2 in 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current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line)</a:t>
            </a:r>
          </a:p>
          <a:p>
            <a:r>
              <a:rPr lang="en-US" sz="1600" dirty="0">
                <a:sym typeface="Wingdings" panose="05000000000000000000" pitchFamily="2" charset="2"/>
              </a:rPr>
              <a:t>		</a:t>
            </a:r>
            <a:r>
              <a:rPr lang="en-US" sz="1600" dirty="0" smtClean="0">
                <a:sym typeface="Wingdings" panose="05000000000000000000" pitchFamily="2" charset="2"/>
              </a:rPr>
              <a:t>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 smtClean="0">
                <a:sym typeface="Wingdings" panose="05000000000000000000" pitchFamily="2" charset="2"/>
              </a:rPr>
              <a:t>Decrement operators </a:t>
            </a:r>
            <a:r>
              <a:rPr lang="en-US" sz="1600" dirty="0" smtClean="0">
                <a:sym typeface="Wingdings" panose="05000000000000000000" pitchFamily="2" charset="2"/>
              </a:rPr>
              <a:t>: 2 type.(Pre-decrement, post decrement)</a:t>
            </a:r>
          </a:p>
          <a:p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smtClean="0">
                <a:sym typeface="Wingdings" panose="05000000000000000000" pitchFamily="2" charset="2"/>
              </a:rPr>
              <a:t>				</a:t>
            </a:r>
          </a:p>
          <a:p>
            <a:r>
              <a:rPr lang="en-US" sz="1600" dirty="0">
                <a:sym typeface="Wingdings" panose="05000000000000000000" pitchFamily="2" charset="2"/>
              </a:rPr>
              <a:t>	</a:t>
            </a:r>
            <a:r>
              <a:rPr lang="en-US" sz="1600" dirty="0" smtClean="0">
                <a:sym typeface="Wingdings" panose="05000000000000000000" pitchFamily="2" charset="2"/>
              </a:rPr>
              <a:t>		               (--</a:t>
            </a:r>
            <a:r>
              <a:rPr lang="en-US" sz="1600" dirty="0" err="1" smtClean="0">
                <a:sym typeface="Wingdings" panose="05000000000000000000" pitchFamily="2" charset="2"/>
              </a:rPr>
              <a:t>i</a:t>
            </a:r>
            <a:r>
              <a:rPr lang="en-US" sz="1600" dirty="0" smtClean="0">
                <a:sym typeface="Wingdings" panose="05000000000000000000" pitchFamily="2" charset="2"/>
              </a:rPr>
              <a:t>)	   (</a:t>
            </a:r>
            <a:r>
              <a:rPr lang="en-US" sz="1600" dirty="0" err="1" smtClean="0">
                <a:sym typeface="Wingdings" panose="05000000000000000000" pitchFamily="2" charset="2"/>
              </a:rPr>
              <a:t>i</a:t>
            </a:r>
            <a:r>
              <a:rPr lang="en-US" sz="1600" dirty="0" smtClean="0">
                <a:sym typeface="Wingdings" panose="05000000000000000000" pitchFamily="2" charset="2"/>
              </a:rPr>
              <a:t>--)</a:t>
            </a:r>
          </a:p>
          <a:p>
            <a:r>
              <a:rPr lang="en-US" sz="1600" dirty="0" smtClean="0">
                <a:sym typeface="Wingdings" panose="05000000000000000000" pitchFamily="2" charset="2"/>
              </a:rPr>
              <a:t>Works same as </a:t>
            </a:r>
            <a:r>
              <a:rPr lang="en-US" sz="1600" dirty="0"/>
              <a:t>Increment </a:t>
            </a:r>
            <a:r>
              <a:rPr lang="en-US" sz="1600" dirty="0" smtClean="0"/>
              <a:t>operators.</a:t>
            </a:r>
            <a:endParaRPr lang="en-US" sz="1600" dirty="0" smtClean="0">
              <a:sym typeface="Wingdings" panose="05000000000000000000" pitchFamily="2" charset="2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723870" y="2438400"/>
            <a:ext cx="0" cy="27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400270" y="2438399"/>
            <a:ext cx="0" cy="27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165125" y="2121241"/>
            <a:ext cx="0" cy="4736759"/>
          </a:xfrm>
          <a:prstGeom prst="line">
            <a:avLst/>
          </a:prstGeom>
          <a:ln w="254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802130" y="6009502"/>
            <a:ext cx="0" cy="27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0095470" y="6009502"/>
            <a:ext cx="0" cy="27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92076" y="1087044"/>
            <a:ext cx="6219568" cy="10341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9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14" y="65903"/>
            <a:ext cx="56260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While loop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b="1" dirty="0" smtClean="0"/>
              <a:t>Syntax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initial </a:t>
            </a:r>
            <a:r>
              <a:rPr lang="en-US" dirty="0" smtClean="0"/>
              <a:t>statement or declaration</a:t>
            </a:r>
          </a:p>
          <a:p>
            <a:r>
              <a:rPr lang="en-US" dirty="0"/>
              <a:t>	</a:t>
            </a:r>
            <a:r>
              <a:rPr lang="en-US" dirty="0" smtClean="0"/>
              <a:t>	while(condition){</a:t>
            </a:r>
          </a:p>
          <a:p>
            <a:r>
              <a:rPr lang="en-US" dirty="0"/>
              <a:t>	</a:t>
            </a:r>
            <a:r>
              <a:rPr lang="en-US" dirty="0" smtClean="0"/>
              <a:t>		            Process.</a:t>
            </a:r>
          </a:p>
          <a:p>
            <a:r>
              <a:rPr lang="en-US" dirty="0"/>
              <a:t>	</a:t>
            </a:r>
            <a:r>
              <a:rPr lang="en-US" dirty="0" smtClean="0"/>
              <a:t>		            Upgrading statement.</a:t>
            </a:r>
          </a:p>
          <a:p>
            <a:r>
              <a:rPr lang="en-US" dirty="0"/>
              <a:t>	</a:t>
            </a:r>
            <a:r>
              <a:rPr lang="en-US" dirty="0" smtClean="0"/>
              <a:t>		}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55590" y="436606"/>
            <a:ext cx="4843848" cy="16606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56519" y="2257168"/>
            <a:ext cx="5642919" cy="3575221"/>
          </a:xfrm>
          <a:prstGeom prst="roundRect">
            <a:avLst>
              <a:gd name="adj" fmla="val 4918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Ex </a:t>
            </a:r>
            <a:r>
              <a:rPr lang="en-US" dirty="0"/>
              <a:t>: (Printing number 1 to 10)</a:t>
            </a:r>
          </a:p>
          <a:p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	</a:t>
            </a:r>
            <a:r>
              <a:rPr lang="en-US" altLang="en-US" dirty="0">
                <a:solidFill>
                  <a:srgbClr val="61AEEE"/>
                </a:solidFill>
                <a:latin typeface="Droid Sans Mono"/>
              </a:rPr>
              <a:t>#include 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&lt;</a:t>
            </a:r>
            <a:r>
              <a:rPr lang="en-US" altLang="en-US" dirty="0" err="1">
                <a:solidFill>
                  <a:srgbClr val="98C379"/>
                </a:solidFill>
                <a:latin typeface="Droid Sans Mono"/>
              </a:rPr>
              <a:t>stdio.h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&gt;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 err="1">
                <a:solidFill>
                  <a:srgbClr val="C678DD"/>
                </a:solidFill>
                <a:latin typeface="Droid Sans Mono"/>
              </a:rPr>
              <a:t>int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61AEEE"/>
                </a:solidFill>
                <a:latin typeface="Droid Sans Mono"/>
              </a:rPr>
              <a:t>main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() {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C678DD"/>
                </a:solidFill>
                <a:latin typeface="Droid Sans Mono"/>
              </a:rPr>
              <a:t>int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 err="1" smtClean="0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= </a:t>
            </a:r>
            <a:r>
              <a:rPr lang="en-US" altLang="en-US" dirty="0" smtClean="0">
                <a:solidFill>
                  <a:schemeClr val="accent4">
                    <a:lumMod val="75000"/>
                  </a:schemeClr>
                </a:solidFill>
                <a:latin typeface="Droid Sans Mono"/>
              </a:rPr>
              <a:t>1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;</a:t>
            </a:r>
            <a:endParaRPr lang="en-US" altLang="en-US" dirty="0">
              <a:solidFill>
                <a:srgbClr val="D3D3D3"/>
              </a:solidFill>
              <a:latin typeface="Droid Sans Mono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C678DD"/>
                </a:solidFill>
                <a:latin typeface="Droid Sans Mono"/>
              </a:rPr>
              <a:t>while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(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&lt; </a:t>
            </a:r>
            <a:r>
              <a:rPr lang="en-US" altLang="en-US" dirty="0" smtClean="0">
                <a:solidFill>
                  <a:srgbClr val="D19A66"/>
                </a:solidFill>
                <a:latin typeface="Droid Sans Mono"/>
              </a:rPr>
              <a:t>11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) 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{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E6C07B"/>
                </a:solidFill>
                <a:latin typeface="Droid Sans Mono"/>
              </a:rPr>
              <a:t>	</a:t>
            </a:r>
            <a:r>
              <a:rPr lang="en-US" altLang="en-US" dirty="0" err="1">
                <a:solidFill>
                  <a:srgbClr val="E6C07B"/>
                </a:solidFill>
                <a:latin typeface="Droid Sans Mono"/>
              </a:rPr>
              <a:t>printf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"%d "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,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);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	</a:t>
            </a:r>
            <a:r>
              <a:rPr lang="en-US" altLang="en-US" dirty="0" err="1" smtClean="0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++;</a:t>
            </a:r>
            <a:endParaRPr lang="en-US" altLang="en-US" dirty="0">
              <a:solidFill>
                <a:srgbClr val="D3D3D3"/>
              </a:solidFill>
              <a:latin typeface="Droid Sans Mono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	}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C678DD"/>
                </a:solidFill>
                <a:latin typeface="Droid Sans Mono"/>
              </a:rPr>
              <a:t>return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D19A66"/>
                </a:solidFill>
                <a:latin typeface="Droid Sans Mono"/>
              </a:rPr>
              <a:t>0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}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/>
              <a:t>Output: 1 2 3 4 5 6 7 8 9 10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923005" y="0"/>
            <a:ext cx="41190" cy="6858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64195" y="70708"/>
            <a:ext cx="584833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Do…..while loop 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		initial statement or declaration</a:t>
            </a:r>
          </a:p>
          <a:p>
            <a:pPr lvl="2"/>
            <a:r>
              <a:rPr lang="en-US" dirty="0"/>
              <a:t>		</a:t>
            </a:r>
            <a:r>
              <a:rPr lang="en-US" dirty="0" smtClean="0"/>
              <a:t>do{</a:t>
            </a:r>
            <a:endParaRPr lang="en-US" dirty="0"/>
          </a:p>
          <a:p>
            <a:pPr lvl="2"/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/>
              <a:t>Process.</a:t>
            </a:r>
          </a:p>
          <a:p>
            <a:pPr lvl="2"/>
            <a:r>
              <a:rPr lang="en-US" dirty="0"/>
              <a:t>		 </a:t>
            </a:r>
            <a:r>
              <a:rPr lang="en-US" dirty="0" smtClean="0"/>
              <a:t>        </a:t>
            </a:r>
            <a:r>
              <a:rPr lang="en-US" dirty="0"/>
              <a:t>Upgrading statement.</a:t>
            </a:r>
          </a:p>
          <a:p>
            <a:pPr lvl="2"/>
            <a:r>
              <a:rPr lang="en-US" dirty="0"/>
              <a:t>		</a:t>
            </a:r>
            <a:r>
              <a:rPr lang="en-US" dirty="0" smtClean="0"/>
              <a:t>    } </a:t>
            </a:r>
            <a:r>
              <a:rPr lang="en-US" dirty="0"/>
              <a:t>while(condition</a:t>
            </a:r>
            <a:r>
              <a:rPr lang="en-US" dirty="0" smtClean="0"/>
              <a:t>);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26560" y="380921"/>
            <a:ext cx="4085967" cy="1771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326127" y="2257168"/>
            <a:ext cx="5527590" cy="3575221"/>
          </a:xfrm>
          <a:prstGeom prst="roundRect">
            <a:avLst>
              <a:gd name="adj" fmla="val 474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Ex </a:t>
            </a:r>
            <a:r>
              <a:rPr lang="en-US" dirty="0"/>
              <a:t>: (Printing number 1 to 10)</a:t>
            </a:r>
          </a:p>
          <a:p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	</a:t>
            </a:r>
            <a:r>
              <a:rPr lang="en-US" altLang="en-US" dirty="0">
                <a:solidFill>
                  <a:srgbClr val="61AEEE"/>
                </a:solidFill>
                <a:latin typeface="Droid Sans Mono"/>
              </a:rPr>
              <a:t>#include 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&lt;</a:t>
            </a:r>
            <a:r>
              <a:rPr lang="en-US" altLang="en-US" dirty="0" err="1">
                <a:solidFill>
                  <a:srgbClr val="98C379"/>
                </a:solidFill>
                <a:latin typeface="Droid Sans Mono"/>
              </a:rPr>
              <a:t>stdio.h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&gt;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 err="1">
                <a:solidFill>
                  <a:srgbClr val="C678DD"/>
                </a:solidFill>
                <a:latin typeface="Droid Sans Mono"/>
              </a:rPr>
              <a:t>int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61AEEE"/>
                </a:solidFill>
                <a:latin typeface="Droid Sans Mono"/>
              </a:rPr>
              <a:t>main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() {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C678DD"/>
                </a:solidFill>
                <a:latin typeface="Droid Sans Mono"/>
              </a:rPr>
              <a:t>int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=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Droid Sans Mono"/>
              </a:rPr>
              <a:t>1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C678DD"/>
                </a:solidFill>
                <a:latin typeface="Droid Sans Mono"/>
              </a:rPr>
              <a:t>do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{ </a:t>
            </a:r>
            <a:endParaRPr lang="en-US" altLang="en-US" dirty="0">
              <a:solidFill>
                <a:srgbClr val="D3D3D3"/>
              </a:solidFill>
              <a:latin typeface="Droid Sans Mono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E6C07B"/>
                </a:solidFill>
                <a:latin typeface="Droid Sans Mono"/>
              </a:rPr>
              <a:t>       </a:t>
            </a:r>
            <a:r>
              <a:rPr lang="en-US" altLang="en-US" dirty="0" err="1" smtClean="0">
                <a:solidFill>
                  <a:srgbClr val="E6C07B"/>
                </a:solidFill>
                <a:latin typeface="Droid Sans Mono"/>
              </a:rPr>
              <a:t>printf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(</a:t>
            </a:r>
            <a:r>
              <a:rPr lang="en-US" altLang="en-US" dirty="0">
                <a:solidFill>
                  <a:srgbClr val="98C379"/>
                </a:solidFill>
                <a:latin typeface="Droid Sans Mono"/>
              </a:rPr>
              <a:t>"%d "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,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);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      </a:t>
            </a:r>
            <a:r>
              <a:rPr lang="en-US" altLang="en-US" dirty="0" err="1" smtClean="0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++;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       }</a:t>
            </a:r>
            <a:r>
              <a:rPr lang="en-US" altLang="en-US" dirty="0" smtClean="0">
                <a:solidFill>
                  <a:srgbClr val="C678DD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C678DD"/>
                </a:solidFill>
                <a:latin typeface="Droid Sans Mono"/>
              </a:rPr>
              <a:t>while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( </a:t>
            </a:r>
            <a:r>
              <a:rPr lang="en-US" altLang="en-US" dirty="0" err="1">
                <a:solidFill>
                  <a:srgbClr val="D3D3D3"/>
                </a:solidFill>
                <a:latin typeface="Droid Sans Mono"/>
              </a:rPr>
              <a:t>i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&lt; </a:t>
            </a:r>
            <a:r>
              <a:rPr lang="en-US" altLang="en-US" dirty="0">
                <a:solidFill>
                  <a:srgbClr val="D19A66"/>
                </a:solidFill>
                <a:latin typeface="Droid Sans Mono"/>
              </a:rPr>
              <a:t>11</a:t>
            </a:r>
            <a:r>
              <a:rPr lang="en-US" altLang="en-US" dirty="0" smtClean="0">
                <a:solidFill>
                  <a:srgbClr val="D3D3D3"/>
                </a:solidFill>
                <a:latin typeface="Droid Sans Mono"/>
              </a:rPr>
              <a:t>);</a:t>
            </a:r>
            <a:endParaRPr lang="en-US" altLang="en-US" dirty="0">
              <a:solidFill>
                <a:srgbClr val="D3D3D3"/>
              </a:solidFill>
              <a:latin typeface="Droid Sans Mono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C678DD"/>
                </a:solidFill>
                <a:latin typeface="Droid Sans Mono"/>
              </a:rPr>
              <a:t>return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 </a:t>
            </a:r>
            <a:r>
              <a:rPr lang="en-US" altLang="en-US" dirty="0">
                <a:solidFill>
                  <a:srgbClr val="D19A66"/>
                </a:solidFill>
                <a:latin typeface="Droid Sans Mono"/>
              </a:rPr>
              <a:t>0</a:t>
            </a: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;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3D3D3"/>
                </a:solidFill>
                <a:latin typeface="Droid Sans Mono"/>
              </a:rPr>
              <a:t>}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/>
              <a:t>Output: 1 2 3 4 5 6 7 8 9 10</a:t>
            </a:r>
          </a:p>
        </p:txBody>
      </p:sp>
    </p:spTree>
    <p:extLst>
      <p:ext uri="{BB962C8B-B14F-4D97-AF65-F5344CB8AC3E}">
        <p14:creationId xmlns:p14="http://schemas.microsoft.com/office/powerpoint/2010/main" val="408031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902" y="148281"/>
            <a:ext cx="11945963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 smtClean="0"/>
              <a:t>Break statement</a:t>
            </a:r>
            <a:r>
              <a:rPr lang="en-US" dirty="0" smtClean="0"/>
              <a:t>: </a:t>
            </a:r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dirty="0">
                <a:latin typeface="Arial Unicode MS" panose="020B0604020202020204" pitchFamily="34" charset="-128"/>
              </a:rPr>
              <a:t>break</a:t>
            </a:r>
            <a:r>
              <a:rPr lang="en-US" altLang="en-US" dirty="0"/>
              <a:t> statement is used to </a:t>
            </a:r>
            <a:r>
              <a:rPr lang="en-US" altLang="en-US" dirty="0">
                <a:latin typeface="Arial" panose="020B0604020202020204" pitchFamily="34" charset="0"/>
              </a:rPr>
              <a:t>exit the loop immediately when a certain condition is met</a:t>
            </a:r>
            <a:r>
              <a:rPr lang="en-US" altLang="en-US" sz="1600" dirty="0" smtClean="0">
                <a:latin typeface="Arial" panose="020B0604020202020204" pitchFamily="34" charset="0"/>
              </a:rPr>
              <a:t>. It can be </a:t>
            </a:r>
          </a:p>
          <a:p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</a:rPr>
              <a:t>    use in loop without conditional statement but it has no usefulness. So generally it is used in a conditional statement.</a:t>
            </a:r>
          </a:p>
          <a:p>
            <a:r>
              <a:rPr lang="en-US" sz="1600" dirty="0">
                <a:latin typeface="Arial" panose="020B0604020202020204" pitchFamily="34" charset="0"/>
              </a:rPr>
              <a:t>	</a:t>
            </a:r>
            <a:r>
              <a:rPr lang="en-US" sz="1600" b="1" u="sng" dirty="0" smtClean="0">
                <a:latin typeface="Arial" panose="020B0604020202020204" pitchFamily="34" charset="0"/>
              </a:rPr>
              <a:t>Ex</a:t>
            </a:r>
            <a:r>
              <a:rPr lang="en-US" sz="1600" dirty="0" smtClean="0">
                <a:latin typeface="Arial" panose="020B0604020202020204" pitchFamily="34" charset="0"/>
              </a:rPr>
              <a:t>: </a:t>
            </a:r>
          </a:p>
          <a:p>
            <a:r>
              <a:rPr lang="en-US" sz="1600" dirty="0">
                <a:latin typeface="Arial" panose="020B0604020202020204" pitchFamily="34" charset="0"/>
              </a:rPr>
              <a:t>		for(</a:t>
            </a:r>
            <a:r>
              <a:rPr lang="en-US" sz="1600" dirty="0" err="1">
                <a:latin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</a:rPr>
              <a:t>=1;i&lt;10;i++)</a:t>
            </a:r>
          </a:p>
          <a:p>
            <a:pPr lvl="3"/>
            <a:r>
              <a:rPr lang="en-US" sz="1600" dirty="0">
                <a:latin typeface="Arial" panose="020B0604020202020204" pitchFamily="34" charset="0"/>
              </a:rPr>
              <a:t>	{ if (</a:t>
            </a:r>
            <a:r>
              <a:rPr lang="en-US" sz="1600" dirty="0" err="1">
                <a:latin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</a:rPr>
              <a:t>== 5</a:t>
            </a:r>
            <a:r>
              <a:rPr lang="en-US" sz="1600" dirty="0" smtClean="0">
                <a:latin typeface="Arial" panose="020B0604020202020204" pitchFamily="34" charset="0"/>
              </a:rPr>
              <a:t>){</a:t>
            </a:r>
          </a:p>
          <a:p>
            <a:pPr lvl="3"/>
            <a:r>
              <a:rPr lang="en-US" sz="1600" dirty="0">
                <a:latin typeface="Arial" panose="020B0604020202020204" pitchFamily="34" charset="0"/>
              </a:rPr>
              <a:t>	</a:t>
            </a:r>
            <a:r>
              <a:rPr lang="en-US" sz="1600" dirty="0" smtClean="0">
                <a:latin typeface="Arial" panose="020B0604020202020204" pitchFamily="34" charset="0"/>
              </a:rPr>
              <a:t>	 </a:t>
            </a:r>
            <a:r>
              <a:rPr lang="en-US" sz="1600" dirty="0">
                <a:latin typeface="Arial" panose="020B0604020202020204" pitchFamily="34" charset="0"/>
              </a:rPr>
              <a:t>break;</a:t>
            </a:r>
          </a:p>
          <a:p>
            <a:pPr lvl="4"/>
            <a:r>
              <a:rPr lang="en-US" sz="1600" dirty="0" smtClean="0">
                <a:latin typeface="Arial" panose="020B0604020202020204" pitchFamily="34" charset="0"/>
              </a:rPr>
              <a:t>	}</a:t>
            </a:r>
            <a:endParaRPr lang="en-US" sz="1600" dirty="0">
              <a:latin typeface="Arial" panose="020B0604020202020204" pitchFamily="34" charset="0"/>
            </a:endParaRPr>
          </a:p>
          <a:p>
            <a:pPr lvl="4"/>
            <a:r>
              <a:rPr lang="en-US" sz="1600" dirty="0" err="1" smtClean="0">
                <a:latin typeface="Arial" panose="020B0604020202020204" pitchFamily="34" charset="0"/>
              </a:rPr>
              <a:t>printf</a:t>
            </a:r>
            <a:r>
              <a:rPr lang="en-US" sz="1600" dirty="0">
                <a:latin typeface="Arial" panose="020B0604020202020204" pitchFamily="34" charset="0"/>
              </a:rPr>
              <a:t>("%d\n",</a:t>
            </a:r>
            <a:r>
              <a:rPr lang="en-US" sz="1600" dirty="0" err="1">
                <a:latin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</a:rPr>
              <a:t>);</a:t>
            </a:r>
          </a:p>
          <a:p>
            <a:pPr lvl="4"/>
            <a:r>
              <a:rPr lang="en-US" sz="1600" dirty="0" smtClean="0">
                <a:latin typeface="Arial" panose="020B0604020202020204" pitchFamily="34" charset="0"/>
              </a:rPr>
              <a:t>}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440195" y="1507524"/>
            <a:ext cx="1894702" cy="1647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334897" y="786713"/>
            <a:ext cx="3685592" cy="14745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/>
              <a:t>Output</a:t>
            </a:r>
            <a:r>
              <a:rPr lang="en-US" dirty="0" smtClean="0"/>
              <a:t> :</a:t>
            </a:r>
          </a:p>
          <a:p>
            <a:r>
              <a:rPr lang="en-US" dirty="0"/>
              <a:t>	1</a:t>
            </a:r>
          </a:p>
          <a:p>
            <a:pPr lvl="2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2"/>
            <a:r>
              <a:rPr lang="en-US" dirty="0"/>
              <a:t>4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96702" y="2553964"/>
            <a:ext cx="1191516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u="sng" dirty="0" smtClean="0">
                <a:latin typeface="Arial Unicode MS" panose="020B0604020202020204" pitchFamily="34" charset="-128"/>
              </a:rPr>
              <a:t>Continue</a:t>
            </a:r>
            <a:r>
              <a:rPr lang="en-US" altLang="en-US" b="1" u="sng" dirty="0" smtClean="0"/>
              <a:t> statement </a:t>
            </a:r>
            <a:r>
              <a:rPr lang="en-US" altLang="en-US" sz="1600" dirty="0" smtClean="0"/>
              <a:t>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continue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statement is used to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skip the current iteration (when</a:t>
            </a:r>
            <a:r>
              <a:rPr kumimoji="0" lang="en-US" altLang="en-US" sz="16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condition is true)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proceed to the next iteration. The loop itself continues running.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Ex:</a:t>
            </a:r>
          </a:p>
          <a:p>
            <a:r>
              <a:rPr lang="en-US" altLang="en-US" sz="1600" dirty="0">
                <a:latin typeface="Arial" panose="020B0604020202020204" pitchFamily="34" charset="0"/>
              </a:rPr>
              <a:t>	</a:t>
            </a:r>
            <a:r>
              <a:rPr lang="en-US" altLang="en-US" sz="1600" dirty="0" smtClean="0">
                <a:latin typeface="Arial" panose="020B0604020202020204" pitchFamily="34" charset="0"/>
              </a:rPr>
              <a:t>	</a:t>
            </a:r>
            <a:r>
              <a:rPr lang="en-US" sz="1600" dirty="0">
                <a:latin typeface="Arial" panose="020B0604020202020204" pitchFamily="34" charset="0"/>
              </a:rPr>
              <a:t>for(</a:t>
            </a:r>
            <a:r>
              <a:rPr lang="en-US" sz="1600" dirty="0" err="1">
                <a:latin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</a:rPr>
              <a:t>=1;i&lt;10;i++)</a:t>
            </a:r>
          </a:p>
          <a:p>
            <a:pPr lvl="3"/>
            <a:r>
              <a:rPr lang="en-US" sz="1600" dirty="0">
                <a:latin typeface="Arial" panose="020B0604020202020204" pitchFamily="34" charset="0"/>
              </a:rPr>
              <a:t>	{ if (</a:t>
            </a:r>
            <a:r>
              <a:rPr lang="en-US" sz="1600" dirty="0" err="1">
                <a:latin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</a:rPr>
              <a:t>== 5){</a:t>
            </a:r>
          </a:p>
          <a:p>
            <a:pPr lvl="3"/>
            <a:r>
              <a:rPr lang="en-US" sz="1600" dirty="0">
                <a:latin typeface="Arial" panose="020B0604020202020204" pitchFamily="34" charset="0"/>
              </a:rPr>
              <a:t>		 break;</a:t>
            </a:r>
          </a:p>
          <a:p>
            <a:pPr lvl="4"/>
            <a:r>
              <a:rPr lang="en-US" sz="1600" dirty="0">
                <a:latin typeface="Arial" panose="020B0604020202020204" pitchFamily="34" charset="0"/>
              </a:rPr>
              <a:t>	}</a:t>
            </a:r>
          </a:p>
          <a:p>
            <a:pPr lvl="4"/>
            <a:r>
              <a:rPr lang="en-US" sz="1600" dirty="0" err="1">
                <a:latin typeface="Arial" panose="020B0604020202020204" pitchFamily="34" charset="0"/>
              </a:rPr>
              <a:t>printf</a:t>
            </a:r>
            <a:r>
              <a:rPr lang="en-US" sz="1600" dirty="0">
                <a:latin typeface="Arial" panose="020B0604020202020204" pitchFamily="34" charset="0"/>
              </a:rPr>
              <a:t>("%d\n",</a:t>
            </a:r>
            <a:r>
              <a:rPr lang="en-US" sz="1600" dirty="0" err="1">
                <a:latin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</a:rPr>
              <a:t>);</a:t>
            </a:r>
          </a:p>
          <a:p>
            <a:pPr lvl="4"/>
            <a:r>
              <a:rPr lang="en-US" sz="1600" dirty="0">
                <a:latin typeface="Arial" panose="020B0604020202020204" pitchFamily="34" charset="0"/>
              </a:rPr>
              <a:t>}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440195" y="3993821"/>
            <a:ext cx="1894702" cy="1647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34897" y="3125815"/>
            <a:ext cx="3685592" cy="24475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/>
              <a:t>Output</a:t>
            </a:r>
            <a:r>
              <a:rPr lang="en-US" dirty="0" smtClean="0"/>
              <a:t> :</a:t>
            </a:r>
          </a:p>
          <a:p>
            <a:r>
              <a:rPr lang="en-US" dirty="0"/>
              <a:t>	1</a:t>
            </a:r>
          </a:p>
          <a:p>
            <a:pPr lvl="2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2"/>
            <a:r>
              <a:rPr lang="en-US" dirty="0"/>
              <a:t>4</a:t>
            </a:r>
          </a:p>
          <a:p>
            <a:pPr lvl="2"/>
            <a:r>
              <a:rPr lang="en-US" dirty="0"/>
              <a:t>6</a:t>
            </a:r>
          </a:p>
          <a:p>
            <a:pPr lvl="2"/>
            <a:r>
              <a:rPr lang="en-US" dirty="0"/>
              <a:t>7</a:t>
            </a:r>
          </a:p>
          <a:p>
            <a:pPr lvl="2"/>
            <a:r>
              <a:rPr lang="en-US" dirty="0"/>
              <a:t>8</a:t>
            </a:r>
          </a:p>
          <a:p>
            <a:pPr lvl="2"/>
            <a:r>
              <a:rPr lang="en-US" dirty="0"/>
              <a:t>9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020489" y="1507524"/>
            <a:ext cx="2730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293531" y="1111131"/>
            <a:ext cx="1718334" cy="7927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Stops after the condition (</a:t>
            </a:r>
            <a:r>
              <a:rPr lang="en-US" sz="1400" dirty="0" err="1" smtClean="0"/>
              <a:t>i</a:t>
            </a:r>
            <a:r>
              <a:rPr lang="en-US" sz="1400" dirty="0" smtClean="0"/>
              <a:t>=5) is true. </a:t>
            </a:r>
            <a:endParaRPr lang="en-US" sz="14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0027659" y="4237661"/>
            <a:ext cx="2730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293531" y="3263160"/>
            <a:ext cx="1837508" cy="17899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smtClean="0"/>
              <a:t>Skips only single loop of </a:t>
            </a:r>
            <a:r>
              <a:rPr lang="en-US" sz="1400" dirty="0"/>
              <a:t>(</a:t>
            </a:r>
            <a:r>
              <a:rPr lang="en-US" sz="1400" dirty="0" err="1"/>
              <a:t>i</a:t>
            </a:r>
            <a:r>
              <a:rPr lang="en-US" sz="1400" dirty="0"/>
              <a:t>=5)</a:t>
            </a:r>
            <a:r>
              <a:rPr lang="en-US" sz="1400" dirty="0" smtClean="0"/>
              <a:t> when condition (</a:t>
            </a:r>
            <a:r>
              <a:rPr lang="en-US" sz="1400" dirty="0" err="1" smtClean="0"/>
              <a:t>i</a:t>
            </a:r>
            <a:r>
              <a:rPr lang="en-US" sz="1400" dirty="0" smtClean="0"/>
              <a:t>=5) is true. But continue other loops.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725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286" y="170916"/>
            <a:ext cx="806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 smtClean="0"/>
              <a:t>Pattern printing </a:t>
            </a:r>
            <a:r>
              <a:rPr lang="en-US" dirty="0" smtClean="0"/>
              <a:t>: It is a section that uses loop to print different types of pattern.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08" y="540248"/>
            <a:ext cx="5531933" cy="173628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5805400" y="1562215"/>
            <a:ext cx="548640" cy="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9627079" y="1723162"/>
            <a:ext cx="548640" cy="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75719" y="1039498"/>
            <a:ext cx="1822576" cy="1237037"/>
          </a:xfrm>
          <a:prstGeom prst="roundRect">
            <a:avLst>
              <a:gd name="adj" fmla="val 1114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/>
              <a:t>Output</a:t>
            </a:r>
            <a:r>
              <a:rPr lang="en-US" sz="1200" dirty="0"/>
              <a:t>: </a:t>
            </a:r>
            <a:r>
              <a:rPr lang="en-US" sz="1200" dirty="0" smtClean="0"/>
              <a:t> 5</a:t>
            </a:r>
          </a:p>
          <a:p>
            <a:pPr lvl="1"/>
            <a:r>
              <a:rPr lang="en-US" sz="1200" dirty="0"/>
              <a:t>* * * * *</a:t>
            </a:r>
          </a:p>
          <a:p>
            <a:pPr lvl="1"/>
            <a:r>
              <a:rPr lang="en-US" sz="1200" dirty="0"/>
              <a:t>* * * * *</a:t>
            </a:r>
          </a:p>
          <a:p>
            <a:pPr lvl="1"/>
            <a:r>
              <a:rPr lang="en-US" sz="1200" dirty="0"/>
              <a:t>* * * * *</a:t>
            </a:r>
          </a:p>
          <a:p>
            <a:pPr lvl="1"/>
            <a:r>
              <a:rPr lang="en-US" sz="1200" dirty="0"/>
              <a:t>* * * * *</a:t>
            </a:r>
          </a:p>
          <a:p>
            <a:pPr lvl="1"/>
            <a:r>
              <a:rPr lang="en-US" sz="1200" dirty="0"/>
              <a:t>* * * * *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86" y="3700329"/>
            <a:ext cx="5520583" cy="17576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54040" y="540248"/>
            <a:ext cx="3273039" cy="27498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u="sng" dirty="0" smtClean="0"/>
              <a:t>Answer:</a:t>
            </a:r>
          </a:p>
          <a:p>
            <a:r>
              <a:rPr lang="en-US" sz="1200" dirty="0"/>
              <a:t>	#</a:t>
            </a:r>
            <a:r>
              <a:rPr lang="en-US" sz="1200" dirty="0" smtClean="0"/>
              <a:t>include&lt;</a:t>
            </a:r>
            <a:r>
              <a:rPr lang="en-US" sz="1200" dirty="0" err="1" smtClean="0"/>
              <a:t>stdio.h</a:t>
            </a:r>
            <a:r>
              <a:rPr lang="en-US" sz="1200" dirty="0" smtClean="0"/>
              <a:t>&gt;</a:t>
            </a:r>
          </a:p>
          <a:p>
            <a:r>
              <a:rPr lang="en-US" sz="1200" dirty="0"/>
              <a:t>	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/>
              <a:t>main</a:t>
            </a:r>
            <a:r>
              <a:rPr lang="en-US" sz="1200" dirty="0" smtClean="0"/>
              <a:t>(){   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                 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/>
              <a:t>n,i,j</a:t>
            </a:r>
            <a:r>
              <a:rPr lang="en-US" sz="1200" dirty="0"/>
              <a:t>;</a:t>
            </a:r>
          </a:p>
          <a:p>
            <a:pPr lvl="3"/>
            <a:r>
              <a:rPr lang="en-US" sz="1200" dirty="0"/>
              <a:t>    scanf("%d", &amp;n);</a:t>
            </a:r>
          </a:p>
          <a:p>
            <a:pPr lvl="3"/>
            <a:endParaRPr lang="en-US" sz="1200" dirty="0"/>
          </a:p>
          <a:p>
            <a:pPr lvl="3"/>
            <a:r>
              <a:rPr lang="en-US" sz="1200" dirty="0"/>
              <a:t>    for(</a:t>
            </a:r>
            <a:r>
              <a:rPr lang="en-US" sz="1200" dirty="0" err="1"/>
              <a:t>i</a:t>
            </a:r>
            <a:r>
              <a:rPr lang="en-US" sz="1200" dirty="0"/>
              <a:t>=1 ; </a:t>
            </a:r>
            <a:r>
              <a:rPr lang="en-US" sz="1200" dirty="0" err="1"/>
              <a:t>i</a:t>
            </a:r>
            <a:r>
              <a:rPr lang="en-US" sz="1200" dirty="0"/>
              <a:t>&lt;=n ; </a:t>
            </a:r>
            <a:r>
              <a:rPr lang="en-US" sz="1200" dirty="0" err="1"/>
              <a:t>i</a:t>
            </a:r>
            <a:r>
              <a:rPr lang="en-US" sz="1200" dirty="0"/>
              <a:t>++){</a:t>
            </a:r>
          </a:p>
          <a:p>
            <a:pPr lvl="3"/>
            <a:r>
              <a:rPr lang="en-US" sz="1200" dirty="0"/>
              <a:t>        for(j=1 ; j&lt;=n ; </a:t>
            </a:r>
            <a:r>
              <a:rPr lang="en-US" sz="1200" dirty="0" err="1"/>
              <a:t>j++</a:t>
            </a:r>
            <a:r>
              <a:rPr lang="en-US" sz="1200" dirty="0"/>
              <a:t>){</a:t>
            </a:r>
          </a:p>
          <a:p>
            <a:pPr lvl="3"/>
            <a:endParaRPr lang="en-US" sz="1200" dirty="0"/>
          </a:p>
          <a:p>
            <a:pPr lvl="3"/>
            <a:r>
              <a:rPr lang="en-US" sz="1200" dirty="0"/>
              <a:t>                </a:t>
            </a:r>
            <a:r>
              <a:rPr lang="en-US" sz="1200" dirty="0" err="1"/>
              <a:t>printf</a:t>
            </a:r>
            <a:r>
              <a:rPr lang="en-US" sz="1200" dirty="0"/>
              <a:t>("* </a:t>
            </a:r>
            <a:r>
              <a:rPr lang="en-US" sz="1200" dirty="0" smtClean="0"/>
              <a:t>");</a:t>
            </a:r>
            <a:endParaRPr lang="en-US" sz="1200" dirty="0"/>
          </a:p>
          <a:p>
            <a:pPr lvl="3"/>
            <a:r>
              <a:rPr lang="en-US" sz="1200" dirty="0"/>
              <a:t>            }</a:t>
            </a:r>
          </a:p>
          <a:p>
            <a:pPr lvl="3"/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("\n");</a:t>
            </a:r>
          </a:p>
          <a:p>
            <a:pPr lvl="3"/>
            <a:r>
              <a:rPr lang="en-US" sz="1200" dirty="0"/>
              <a:t>    </a:t>
            </a:r>
            <a:r>
              <a:rPr lang="en-US" sz="1200" dirty="0" smtClean="0"/>
              <a:t>}</a:t>
            </a:r>
            <a:endParaRPr lang="en-US" sz="1200" dirty="0"/>
          </a:p>
          <a:p>
            <a:pPr lvl="3"/>
            <a:r>
              <a:rPr lang="en-US" sz="1200" dirty="0"/>
              <a:t>	return 0;</a:t>
            </a:r>
          </a:p>
          <a:p>
            <a:pPr lvl="3"/>
            <a:r>
              <a:rPr lang="en-US" sz="1200" dirty="0"/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4039" y="3503775"/>
            <a:ext cx="3273039" cy="31600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u="sng" dirty="0" smtClean="0"/>
              <a:t>Answer:</a:t>
            </a:r>
          </a:p>
          <a:p>
            <a:r>
              <a:rPr lang="en-US" sz="1200" dirty="0"/>
              <a:t>	#include&lt;</a:t>
            </a:r>
            <a:r>
              <a:rPr lang="en-US" sz="1200" dirty="0" err="1"/>
              <a:t>stdio.h</a:t>
            </a:r>
            <a:r>
              <a:rPr lang="en-US" sz="1200" dirty="0"/>
              <a:t>&gt;</a:t>
            </a:r>
          </a:p>
          <a:p>
            <a:endParaRPr lang="en-US" sz="1200" dirty="0"/>
          </a:p>
          <a:p>
            <a:pPr lvl="2"/>
            <a:r>
              <a:rPr lang="en-US" sz="1200" dirty="0" err="1"/>
              <a:t>int</a:t>
            </a:r>
            <a:r>
              <a:rPr lang="en-US" sz="1200" dirty="0"/>
              <a:t> main</a:t>
            </a:r>
            <a:r>
              <a:rPr lang="en-US" sz="1200" dirty="0" smtClean="0"/>
              <a:t>(){</a:t>
            </a:r>
          </a:p>
          <a:p>
            <a:pPr lvl="2"/>
            <a:r>
              <a:rPr lang="en-US" sz="1200" dirty="0" smtClean="0"/>
              <a:t>  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n,m,i,j</a:t>
            </a:r>
            <a:r>
              <a:rPr lang="en-US" sz="1200" dirty="0"/>
              <a:t>;</a:t>
            </a:r>
          </a:p>
          <a:p>
            <a:pPr lvl="2"/>
            <a:r>
              <a:rPr lang="en-US" sz="1200" dirty="0"/>
              <a:t>   </a:t>
            </a:r>
            <a:r>
              <a:rPr lang="en-US" sz="1200" dirty="0" smtClean="0"/>
              <a:t>scanf</a:t>
            </a:r>
            <a:r>
              <a:rPr lang="en-US" sz="1200" dirty="0"/>
              <a:t>("%</a:t>
            </a:r>
            <a:r>
              <a:rPr lang="en-US" sz="1200" dirty="0" err="1"/>
              <a:t>d%d</a:t>
            </a:r>
            <a:r>
              <a:rPr lang="en-US" sz="1200" dirty="0"/>
              <a:t>", &amp;</a:t>
            </a:r>
            <a:r>
              <a:rPr lang="en-US" sz="1200" dirty="0" err="1"/>
              <a:t>n,&amp;m</a:t>
            </a:r>
            <a:r>
              <a:rPr lang="en-US" sz="1200" dirty="0"/>
              <a:t>);</a:t>
            </a:r>
          </a:p>
          <a:p>
            <a:pPr lvl="2"/>
            <a:endParaRPr lang="en-US" sz="1200" dirty="0"/>
          </a:p>
          <a:p>
            <a:pPr lvl="2"/>
            <a:r>
              <a:rPr lang="en-US" sz="1200" dirty="0"/>
              <a:t>    for(</a:t>
            </a:r>
            <a:r>
              <a:rPr lang="en-US" sz="1200" dirty="0" err="1"/>
              <a:t>i</a:t>
            </a:r>
            <a:r>
              <a:rPr lang="en-US" sz="1200" dirty="0"/>
              <a:t>=1 ; </a:t>
            </a:r>
            <a:r>
              <a:rPr lang="en-US" sz="1200" dirty="0" err="1"/>
              <a:t>i</a:t>
            </a:r>
            <a:r>
              <a:rPr lang="en-US" sz="1200" dirty="0"/>
              <a:t>&lt;=n ; </a:t>
            </a:r>
            <a:r>
              <a:rPr lang="en-US" sz="1200" dirty="0" err="1"/>
              <a:t>i</a:t>
            </a:r>
            <a:r>
              <a:rPr lang="en-US" sz="1200" dirty="0"/>
              <a:t>++){</a:t>
            </a:r>
          </a:p>
          <a:p>
            <a:pPr lvl="2"/>
            <a:r>
              <a:rPr lang="en-US" sz="1200" dirty="0"/>
              <a:t>        for(j=1 ; j&lt;=m ; </a:t>
            </a:r>
            <a:r>
              <a:rPr lang="en-US" sz="1200" dirty="0" err="1"/>
              <a:t>j++</a:t>
            </a:r>
            <a:r>
              <a:rPr lang="en-US" sz="1200" dirty="0"/>
              <a:t>){</a:t>
            </a:r>
          </a:p>
          <a:p>
            <a:pPr lvl="2"/>
            <a:endParaRPr lang="en-US" sz="1200" dirty="0"/>
          </a:p>
          <a:p>
            <a:pPr lvl="2"/>
            <a:r>
              <a:rPr lang="en-US" sz="1200" dirty="0"/>
              <a:t>                </a:t>
            </a:r>
            <a:r>
              <a:rPr lang="en-US" sz="1200" dirty="0" err="1"/>
              <a:t>printf</a:t>
            </a:r>
            <a:r>
              <a:rPr lang="en-US" sz="1200" dirty="0"/>
              <a:t>("* ");</a:t>
            </a:r>
          </a:p>
          <a:p>
            <a:pPr lvl="2"/>
            <a:r>
              <a:rPr lang="en-US" sz="1200" dirty="0"/>
              <a:t>            }</a:t>
            </a:r>
          </a:p>
          <a:p>
            <a:pPr lvl="2"/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("\n");</a:t>
            </a:r>
          </a:p>
          <a:p>
            <a:pPr lvl="2"/>
            <a:r>
              <a:rPr lang="en-US" sz="1200" dirty="0"/>
              <a:t>    }</a:t>
            </a:r>
          </a:p>
          <a:p>
            <a:pPr lvl="2"/>
            <a:r>
              <a:rPr lang="en-US" sz="1200" dirty="0" smtClean="0"/>
              <a:t>return </a:t>
            </a:r>
            <a:r>
              <a:rPr lang="en-US" sz="1200" dirty="0"/>
              <a:t>0;</a:t>
            </a:r>
          </a:p>
          <a:p>
            <a:pPr lvl="2"/>
            <a:r>
              <a:rPr lang="en-US" sz="1200" dirty="0"/>
              <a:t>}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805399" y="4736300"/>
            <a:ext cx="548640" cy="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9627079" y="4736300"/>
            <a:ext cx="548640" cy="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75719" y="4220966"/>
            <a:ext cx="1822576" cy="1237037"/>
          </a:xfrm>
          <a:prstGeom prst="roundRect">
            <a:avLst>
              <a:gd name="adj" fmla="val 1114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/>
              <a:t>Output</a:t>
            </a:r>
            <a:r>
              <a:rPr lang="en-US" sz="1200" dirty="0"/>
              <a:t>:  4 </a:t>
            </a:r>
            <a:r>
              <a:rPr lang="en-US" sz="1200" dirty="0" smtClean="0"/>
              <a:t> 3</a:t>
            </a:r>
            <a:endParaRPr lang="en-US" sz="1200" dirty="0"/>
          </a:p>
          <a:p>
            <a:pPr lvl="1"/>
            <a:r>
              <a:rPr lang="en-US" sz="1200" dirty="0"/>
              <a:t>* * *</a:t>
            </a:r>
          </a:p>
          <a:p>
            <a:pPr lvl="1"/>
            <a:r>
              <a:rPr lang="en-US" sz="1200" dirty="0"/>
              <a:t>* * *</a:t>
            </a:r>
          </a:p>
          <a:p>
            <a:pPr lvl="1"/>
            <a:r>
              <a:rPr lang="en-US" sz="1200" dirty="0"/>
              <a:t>* * *</a:t>
            </a:r>
          </a:p>
          <a:p>
            <a:pPr lvl="1"/>
            <a:r>
              <a:rPr lang="en-US" sz="1200" dirty="0"/>
              <a:t>* * *</a:t>
            </a:r>
          </a:p>
        </p:txBody>
      </p:sp>
    </p:spTree>
    <p:extLst>
      <p:ext uri="{BB962C8B-B14F-4D97-AF65-F5344CB8AC3E}">
        <p14:creationId xmlns:p14="http://schemas.microsoft.com/office/powerpoint/2010/main" val="267318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136374"/>
            <a:ext cx="4495073" cy="28033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5423" y="268611"/>
            <a:ext cx="2536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3. no. </a:t>
            </a:r>
            <a:r>
              <a:rPr lang="en-US" dirty="0" smtClean="0">
                <a:sym typeface="Wingdings" panose="05000000000000000000" pitchFamily="2" charset="2"/>
              </a:rPr>
              <a:t> for N=4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86191"/>
              </p:ext>
            </p:extLst>
          </p:nvPr>
        </p:nvGraphicFramePr>
        <p:xfrm>
          <a:off x="7152830" y="247827"/>
          <a:ext cx="1999718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54"/>
                <a:gridCol w="375991"/>
                <a:gridCol w="375991"/>
                <a:gridCol w="375991"/>
                <a:gridCol w="375991"/>
              </a:tblGrid>
              <a:tr h="632018"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7357929" y="247827"/>
            <a:ext cx="282133" cy="3693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smtClean="0"/>
              <a:t>j</a:t>
            </a:r>
            <a:endParaRPr lang="en-US" sz="1050" b="1" dirty="0"/>
          </a:p>
        </p:txBody>
      </p:sp>
      <p:sp>
        <p:nvSpPr>
          <p:cNvPr id="6" name="Right Arrow 5"/>
          <p:cNvSpPr/>
          <p:nvPr/>
        </p:nvSpPr>
        <p:spPr>
          <a:xfrm rot="5400000">
            <a:off x="7210240" y="559749"/>
            <a:ext cx="254512" cy="3693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 smtClean="0"/>
              <a:t>i</a:t>
            </a:r>
            <a:endParaRPr lang="en-US" sz="105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759297" y="148951"/>
            <a:ext cx="2269166" cy="181588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 for(</a:t>
            </a:r>
            <a:r>
              <a:rPr lang="en-US" sz="1600" dirty="0" err="1"/>
              <a:t>i</a:t>
            </a:r>
            <a:r>
              <a:rPr lang="en-US" sz="1600" dirty="0"/>
              <a:t>=1 ; </a:t>
            </a:r>
            <a:r>
              <a:rPr lang="en-US" sz="1600" dirty="0" err="1"/>
              <a:t>i</a:t>
            </a:r>
            <a:r>
              <a:rPr lang="en-US" sz="1600" dirty="0"/>
              <a:t>&lt;=n 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r>
              <a:rPr lang="en-US" sz="1600" dirty="0"/>
              <a:t>        for(j=1 ; j&lt;=</a:t>
            </a:r>
            <a:r>
              <a:rPr lang="en-US" sz="1600" dirty="0" err="1"/>
              <a:t>i</a:t>
            </a:r>
            <a:r>
              <a:rPr lang="en-US" sz="1600" dirty="0"/>
              <a:t> ; </a:t>
            </a:r>
            <a:r>
              <a:rPr lang="en-US" sz="1600" dirty="0" err="1"/>
              <a:t>j++</a:t>
            </a:r>
            <a:r>
              <a:rPr lang="en-US" sz="1600" dirty="0"/>
              <a:t>){</a:t>
            </a:r>
          </a:p>
          <a:p>
            <a:endParaRPr lang="en-US" sz="1600" dirty="0"/>
          </a:p>
          <a:p>
            <a:r>
              <a:rPr lang="en-US" sz="1600" dirty="0"/>
              <a:t>                </a:t>
            </a:r>
            <a:r>
              <a:rPr lang="en-US" sz="1600" dirty="0" err="1"/>
              <a:t>printf</a:t>
            </a:r>
            <a:r>
              <a:rPr lang="en-US" sz="1600" dirty="0"/>
              <a:t>("* ");</a:t>
            </a:r>
          </a:p>
          <a:p>
            <a:r>
              <a:rPr lang="en-US" sz="1600" dirty="0"/>
              <a:t>            }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printf</a:t>
            </a:r>
            <a:r>
              <a:rPr lang="en-US" sz="1600" dirty="0"/>
              <a:t>("\n");</a:t>
            </a:r>
          </a:p>
          <a:p>
            <a:r>
              <a:rPr lang="en-US" sz="1600" dirty="0"/>
              <a:t>    }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9152548" y="1356797"/>
            <a:ext cx="606749" cy="4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5423" y="1172131"/>
            <a:ext cx="2289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smtClean="0"/>
              <a:t>4. </a:t>
            </a:r>
            <a:r>
              <a:rPr lang="en-US" dirty="0"/>
              <a:t>no. </a:t>
            </a:r>
            <a:r>
              <a:rPr lang="en-US" dirty="0">
                <a:sym typeface="Wingdings" panose="05000000000000000000" pitchFamily="2" charset="2"/>
              </a:rPr>
              <a:t> for </a:t>
            </a:r>
            <a:r>
              <a:rPr lang="en-US" dirty="0" smtClean="0">
                <a:sym typeface="Wingdings" panose="05000000000000000000" pitchFamily="2" charset="2"/>
              </a:rPr>
              <a:t>N=4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97022"/>
              </p:ext>
            </p:extLst>
          </p:nvPr>
        </p:nvGraphicFramePr>
        <p:xfrm>
          <a:off x="5024926" y="1833431"/>
          <a:ext cx="1999718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754"/>
                <a:gridCol w="375991"/>
                <a:gridCol w="375991"/>
                <a:gridCol w="375991"/>
                <a:gridCol w="375991"/>
              </a:tblGrid>
              <a:tr h="632018"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</a:tr>
              <a:tr h="361153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ight Arrow 13"/>
          <p:cNvSpPr/>
          <p:nvPr/>
        </p:nvSpPr>
        <p:spPr>
          <a:xfrm>
            <a:off x="5214206" y="1822879"/>
            <a:ext cx="282133" cy="3693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smtClean="0"/>
              <a:t>j</a:t>
            </a:r>
            <a:endParaRPr lang="en-US" sz="1050" b="1" dirty="0"/>
          </a:p>
        </p:txBody>
      </p:sp>
      <p:sp>
        <p:nvSpPr>
          <p:cNvPr id="15" name="Right Arrow 14"/>
          <p:cNvSpPr/>
          <p:nvPr/>
        </p:nvSpPr>
        <p:spPr>
          <a:xfrm rot="5400000">
            <a:off x="5082336" y="2145353"/>
            <a:ext cx="254512" cy="3693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 smtClean="0"/>
              <a:t>i</a:t>
            </a:r>
            <a:endParaRPr lang="en-US" sz="1050" b="1" dirty="0"/>
          </a:p>
        </p:txBody>
      </p:sp>
      <p:sp>
        <p:nvSpPr>
          <p:cNvPr id="16" name="Right Arrow 15"/>
          <p:cNvSpPr/>
          <p:nvPr/>
        </p:nvSpPr>
        <p:spPr>
          <a:xfrm rot="5400000">
            <a:off x="5883045" y="1467634"/>
            <a:ext cx="210704" cy="203634"/>
          </a:xfrm>
          <a:prstGeom prst="rightArrow">
            <a:avLst>
              <a:gd name="adj1" fmla="val 50000"/>
              <a:gd name="adj2" fmla="val 459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7024644" y="2884991"/>
            <a:ext cx="606749" cy="4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40062" y="2457275"/>
            <a:ext cx="3178914" cy="25237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1400" dirty="0"/>
              <a:t>for(</a:t>
            </a:r>
            <a:r>
              <a:rPr lang="en-US" sz="1400" dirty="0" err="1"/>
              <a:t>i</a:t>
            </a:r>
            <a:r>
              <a:rPr lang="en-US" sz="1400" dirty="0"/>
              <a:t>=1 ; </a:t>
            </a:r>
            <a:r>
              <a:rPr lang="en-US" sz="1400" dirty="0" err="1"/>
              <a:t>i</a:t>
            </a:r>
            <a:r>
              <a:rPr lang="en-US" sz="1400" dirty="0"/>
              <a:t>&lt;=n ; </a:t>
            </a:r>
            <a:r>
              <a:rPr lang="en-US" sz="1400" dirty="0" err="1"/>
              <a:t>i</a:t>
            </a:r>
            <a:r>
              <a:rPr lang="en-US" sz="1400" dirty="0"/>
              <a:t>++){</a:t>
            </a:r>
          </a:p>
          <a:p>
            <a:r>
              <a:rPr lang="en-US" sz="1400" dirty="0"/>
              <a:t>        for(j=n ; j&gt;=1 ; j--){</a:t>
            </a:r>
          </a:p>
          <a:p>
            <a:endParaRPr lang="en-US" sz="1400" dirty="0"/>
          </a:p>
          <a:p>
            <a:r>
              <a:rPr lang="en-US" sz="1400" dirty="0"/>
              <a:t>            if(</a:t>
            </a:r>
            <a:r>
              <a:rPr lang="en-US" sz="1400" dirty="0" err="1"/>
              <a:t>i</a:t>
            </a:r>
            <a:r>
              <a:rPr lang="en-US" sz="1400" dirty="0"/>
              <a:t>&gt;=j)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printf</a:t>
            </a:r>
            <a:r>
              <a:rPr lang="en-US" sz="1400" dirty="0"/>
              <a:t>("* </a:t>
            </a:r>
            <a:r>
              <a:rPr lang="en-US" sz="1400" dirty="0" smtClean="0"/>
              <a:t>");//*and a space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else  </a:t>
            </a:r>
            <a:r>
              <a:rPr lang="en-US" sz="1400" dirty="0" err="1"/>
              <a:t>printf</a:t>
            </a:r>
            <a:r>
              <a:rPr lang="en-US" sz="1400" dirty="0"/>
              <a:t>("  </a:t>
            </a:r>
            <a:r>
              <a:rPr lang="en-US" sz="1400" dirty="0" smtClean="0"/>
              <a:t>");//two space</a:t>
            </a:r>
            <a:endParaRPr lang="en-US" sz="1400" dirty="0"/>
          </a:p>
          <a:p>
            <a:r>
              <a:rPr lang="en-US" sz="1400" dirty="0"/>
              <a:t>            }</a:t>
            </a:r>
          </a:p>
          <a:p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printf</a:t>
            </a:r>
            <a:r>
              <a:rPr lang="en-US" sz="1400" dirty="0"/>
              <a:t>("\n");</a:t>
            </a:r>
          </a:p>
          <a:p>
            <a:r>
              <a:rPr lang="en-US" sz="1400" dirty="0"/>
              <a:t>    }</a:t>
            </a:r>
          </a:p>
        </p:txBody>
      </p:sp>
      <p:pic>
        <p:nvPicPr>
          <p:cNvPr id="20" name="Picture 19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92" y="2972781"/>
            <a:ext cx="4495073" cy="130301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8892" y="4233321"/>
            <a:ext cx="268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3. no. </a:t>
            </a:r>
            <a:r>
              <a:rPr lang="en-US" dirty="0">
                <a:sym typeface="Wingdings" panose="05000000000000000000" pitchFamily="2" charset="2"/>
              </a:rPr>
              <a:t> for </a:t>
            </a:r>
            <a:r>
              <a:rPr lang="en-US" dirty="0" smtClean="0">
                <a:sym typeface="Wingdings" panose="05000000000000000000" pitchFamily="2" charset="2"/>
              </a:rPr>
              <a:t>N=4 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053100" y="4275800"/>
            <a:ext cx="3178914" cy="25237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1400" dirty="0"/>
              <a:t>for(</a:t>
            </a:r>
            <a:r>
              <a:rPr lang="en-US" sz="1400" dirty="0" err="1"/>
              <a:t>i</a:t>
            </a:r>
            <a:r>
              <a:rPr lang="en-US" sz="1400" dirty="0"/>
              <a:t>=1 ; </a:t>
            </a:r>
            <a:r>
              <a:rPr lang="en-US" sz="1400" dirty="0" err="1"/>
              <a:t>i</a:t>
            </a:r>
            <a:r>
              <a:rPr lang="en-US" sz="1400" dirty="0"/>
              <a:t>&lt;=n ; </a:t>
            </a:r>
            <a:r>
              <a:rPr lang="en-US" sz="1400" dirty="0" err="1"/>
              <a:t>i</a:t>
            </a:r>
            <a:r>
              <a:rPr lang="en-US" sz="1400" dirty="0"/>
              <a:t>++){</a:t>
            </a:r>
          </a:p>
          <a:p>
            <a:r>
              <a:rPr lang="en-US" sz="1400" dirty="0"/>
              <a:t>        for(j=n ; j&gt;=1 ; j--){</a:t>
            </a:r>
          </a:p>
          <a:p>
            <a:endParaRPr lang="en-US" sz="1400" dirty="0"/>
          </a:p>
          <a:p>
            <a:r>
              <a:rPr lang="en-US" sz="1400" dirty="0"/>
              <a:t>            if(</a:t>
            </a:r>
            <a:r>
              <a:rPr lang="en-US" sz="1400" dirty="0" err="1"/>
              <a:t>i</a:t>
            </a:r>
            <a:r>
              <a:rPr lang="en-US" sz="1400" dirty="0"/>
              <a:t>&gt;=j)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printf</a:t>
            </a:r>
            <a:r>
              <a:rPr lang="en-US" sz="1400" dirty="0"/>
              <a:t>("* </a:t>
            </a:r>
            <a:r>
              <a:rPr lang="en-US" sz="1400" dirty="0" smtClean="0"/>
              <a:t>");//*and a space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        else  </a:t>
            </a:r>
            <a:r>
              <a:rPr lang="en-US" sz="1400" dirty="0" err="1"/>
              <a:t>printf</a:t>
            </a:r>
            <a:r>
              <a:rPr lang="en-US" sz="1400" dirty="0"/>
              <a:t>("  </a:t>
            </a:r>
            <a:r>
              <a:rPr lang="en-US" sz="1400" dirty="0" smtClean="0"/>
              <a:t>");//two space</a:t>
            </a:r>
            <a:endParaRPr lang="en-US" sz="1400" dirty="0"/>
          </a:p>
          <a:p>
            <a:r>
              <a:rPr lang="en-US" sz="1400" dirty="0"/>
              <a:t>            }</a:t>
            </a:r>
          </a:p>
          <a:p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printf</a:t>
            </a:r>
            <a:r>
              <a:rPr lang="en-US" sz="1400" dirty="0"/>
              <a:t>("\n");</a:t>
            </a:r>
          </a:p>
          <a:p>
            <a:r>
              <a:rPr lang="en-US" sz="1400" dirty="0"/>
              <a:t>    }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2401936" y="5537684"/>
            <a:ext cx="6511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1" y="4708734"/>
            <a:ext cx="1995565" cy="190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6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0" y="465742"/>
            <a:ext cx="5460762" cy="38484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985" y="96410"/>
            <a:ext cx="2509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Practice this patterns.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676" y="653664"/>
            <a:ext cx="1571844" cy="1514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6471" y="284332"/>
            <a:ext cx="5195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8. Given an integer N. Print following pattern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2"/>
          <a:stretch/>
        </p:blipFill>
        <p:spPr>
          <a:xfrm>
            <a:off x="6634676" y="2560580"/>
            <a:ext cx="1850309" cy="2022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26626" y="2298970"/>
            <a:ext cx="278794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/>
              <a:t>9. </a:t>
            </a:r>
            <a:r>
              <a:rPr lang="en-US" sz="1100" dirty="0"/>
              <a:t>Given an integer N. Print following pattern.</a:t>
            </a:r>
          </a:p>
        </p:txBody>
      </p:sp>
    </p:spTree>
    <p:extLst>
      <p:ext uri="{BB962C8B-B14F-4D97-AF65-F5344CB8AC3E}">
        <p14:creationId xmlns:p14="http://schemas.microsoft.com/office/powerpoint/2010/main" val="189411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71" y="236815"/>
            <a:ext cx="1045004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Functions</a:t>
            </a:r>
            <a:r>
              <a:rPr lang="en-US" dirty="0" smtClean="0"/>
              <a:t> : 2 type. Library function(In built like </a:t>
            </a:r>
            <a:r>
              <a:rPr lang="en-US" sz="1600" dirty="0" smtClean="0">
                <a:solidFill>
                  <a:srgbClr val="FF0000"/>
                </a:solidFill>
              </a:rPr>
              <a:t>scanf()</a:t>
            </a:r>
            <a:r>
              <a:rPr lang="en-US" dirty="0" smtClean="0"/>
              <a:t>),User defined(Declared and defined by programmer).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Blocks of code that performs particular task</a:t>
            </a:r>
            <a:r>
              <a:rPr lang="en-US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It can be used multiple times.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Increase code reusability.</a:t>
            </a:r>
          </a:p>
          <a:p>
            <a:pPr lvl="1"/>
            <a:endParaRPr lang="en-US" dirty="0"/>
          </a:p>
          <a:p>
            <a:pPr lvl="1"/>
            <a:r>
              <a:rPr lang="en-US" b="1" dirty="0" smtClean="0"/>
              <a:t>Syntax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	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lvl="2"/>
            <a:r>
              <a:rPr lang="en-US" dirty="0"/>
              <a:t>void Name</a:t>
            </a:r>
            <a:r>
              <a:rPr lang="en-US" dirty="0" smtClean="0"/>
              <a:t>(){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Samia</a:t>
            </a:r>
            <a:r>
              <a:rPr lang="en-US" dirty="0"/>
              <a:t>\n");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}</a:t>
            </a:r>
            <a:endParaRPr lang="en-US" dirty="0"/>
          </a:p>
          <a:p>
            <a:pPr lvl="2"/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lvl="2"/>
            <a:r>
              <a:rPr lang="en-US" dirty="0"/>
              <a:t>{</a:t>
            </a:r>
          </a:p>
          <a:p>
            <a:pPr lvl="2"/>
            <a:r>
              <a:rPr lang="en-US" dirty="0"/>
              <a:t>	Name();</a:t>
            </a:r>
          </a:p>
          <a:p>
            <a:pPr lvl="2"/>
            <a:r>
              <a:rPr lang="en-US" dirty="0"/>
              <a:t>	Name();</a:t>
            </a:r>
          </a:p>
          <a:p>
            <a:pPr lvl="2"/>
            <a:r>
              <a:rPr lang="en-US" dirty="0"/>
              <a:t>	</a:t>
            </a:r>
          </a:p>
          <a:p>
            <a:pPr lvl="2"/>
            <a:r>
              <a:rPr lang="en-US" dirty="0"/>
              <a:t>	return 0;</a:t>
            </a:r>
          </a:p>
          <a:p>
            <a:pPr lvl="2"/>
            <a:r>
              <a:rPr lang="en-US" dirty="0" smtClean="0"/>
              <a:t>}</a:t>
            </a:r>
          </a:p>
          <a:p>
            <a:endParaRPr lang="en-US" dirty="0" smtClean="0"/>
          </a:p>
          <a:p>
            <a:pPr lvl="1"/>
            <a:r>
              <a:rPr lang="en-US" dirty="0"/>
              <a:t>	</a:t>
            </a:r>
            <a:r>
              <a:rPr lang="en-US" u="sng" dirty="0" smtClean="0"/>
              <a:t>Output</a:t>
            </a:r>
            <a:r>
              <a:rPr lang="en-US" dirty="0"/>
              <a:t>: </a:t>
            </a:r>
            <a:r>
              <a:rPr lang="en-US" dirty="0" smtClean="0"/>
              <a:t>   </a:t>
            </a:r>
            <a:r>
              <a:rPr lang="en-US" dirty="0" err="1" smtClean="0"/>
              <a:t>Samia</a:t>
            </a:r>
            <a:endParaRPr lang="en-US" dirty="0"/>
          </a:p>
          <a:p>
            <a:pPr lvl="4"/>
            <a:r>
              <a:rPr lang="en-US" dirty="0" err="1" smtClean="0"/>
              <a:t>Samia</a:t>
            </a:r>
            <a:endParaRPr lang="en-US" dirty="0" smtClean="0"/>
          </a:p>
        </p:txBody>
      </p:sp>
      <p:sp>
        <p:nvSpPr>
          <p:cNvPr id="3" name="Oval 2"/>
          <p:cNvSpPr/>
          <p:nvPr/>
        </p:nvSpPr>
        <p:spPr>
          <a:xfrm>
            <a:off x="1222374" y="2219306"/>
            <a:ext cx="435429" cy="261256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984069" y="2394857"/>
            <a:ext cx="2438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9669" y="1976846"/>
            <a:ext cx="914400" cy="27062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b="1" dirty="0" smtClean="0"/>
              <a:t>Return type..</a:t>
            </a:r>
          </a:p>
          <a:p>
            <a:r>
              <a:rPr lang="en-US" sz="1050" dirty="0" smtClean="0"/>
              <a:t>Can be void, </a:t>
            </a:r>
            <a:r>
              <a:rPr lang="en-US" sz="1050" dirty="0" err="1" smtClean="0"/>
              <a:t>int</a:t>
            </a:r>
            <a:r>
              <a:rPr lang="en-US" sz="1050" dirty="0" smtClean="0"/>
              <a:t>, float, </a:t>
            </a:r>
            <a:r>
              <a:rPr lang="en-US" sz="1050" dirty="0" err="1" smtClean="0"/>
              <a:t>double.This</a:t>
            </a:r>
            <a:r>
              <a:rPr lang="en-US" sz="1050" dirty="0" smtClean="0"/>
              <a:t> indicates the data type return values.</a:t>
            </a:r>
          </a:p>
          <a:p>
            <a:r>
              <a:rPr lang="en-US" sz="1050" b="1" dirty="0" smtClean="0"/>
              <a:t>*Void</a:t>
            </a:r>
            <a:r>
              <a:rPr lang="en-US" sz="1050" dirty="0" smtClean="0"/>
              <a:t>: Returns 0 or nothing to main function but in can work and print in it’s own.(if called)</a:t>
            </a:r>
            <a:endParaRPr lang="en-US" sz="1050" dirty="0"/>
          </a:p>
        </p:txBody>
      </p:sp>
      <p:sp>
        <p:nvSpPr>
          <p:cNvPr id="7" name="Rectangle 6"/>
          <p:cNvSpPr/>
          <p:nvPr/>
        </p:nvSpPr>
        <p:spPr>
          <a:xfrm>
            <a:off x="1193074" y="2196113"/>
            <a:ext cx="1454332" cy="3190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2647406" y="1857284"/>
            <a:ext cx="958919" cy="4983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06325" y="1686290"/>
            <a:ext cx="880217" cy="3503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smtClean="0"/>
              <a:t>Function declaration.</a:t>
            </a:r>
            <a:endParaRPr lang="en-US" sz="1050" dirty="0"/>
          </a:p>
        </p:txBody>
      </p:sp>
      <p:sp>
        <p:nvSpPr>
          <p:cNvPr id="13" name="Right Brace 12"/>
          <p:cNvSpPr/>
          <p:nvPr/>
        </p:nvSpPr>
        <p:spPr>
          <a:xfrm>
            <a:off x="3213656" y="2683326"/>
            <a:ext cx="145279" cy="621808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414263" y="2837204"/>
            <a:ext cx="384123" cy="1570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06609" y="2683326"/>
            <a:ext cx="799574" cy="3109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Function definition.</a:t>
            </a:r>
            <a:endParaRPr lang="en-US" sz="1050" dirty="0"/>
          </a:p>
        </p:txBody>
      </p:sp>
      <p:sp>
        <p:nvSpPr>
          <p:cNvPr id="17" name="Right Brace 16"/>
          <p:cNvSpPr/>
          <p:nvPr/>
        </p:nvSpPr>
        <p:spPr>
          <a:xfrm>
            <a:off x="3023293" y="4128065"/>
            <a:ext cx="145279" cy="621808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213656" y="4281943"/>
            <a:ext cx="384123" cy="1570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97779" y="4088538"/>
            <a:ext cx="799574" cy="3109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Function call.</a:t>
            </a:r>
            <a:endParaRPr lang="en-US" sz="1050" dirty="0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5053857" y="1469877"/>
            <a:ext cx="15346" cy="52214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3889" y="1492146"/>
            <a:ext cx="439203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Another syntax</a:t>
            </a:r>
            <a:r>
              <a:rPr lang="en-US" dirty="0" smtClean="0"/>
              <a:t>:</a:t>
            </a:r>
          </a:p>
          <a:p>
            <a:r>
              <a:rPr lang="en-US" dirty="0"/>
              <a:t>		 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pPr lvl="4"/>
            <a:r>
              <a:rPr lang="en-US" dirty="0"/>
              <a:t>void </a:t>
            </a:r>
            <a:r>
              <a:rPr lang="en-US" dirty="0" smtClean="0"/>
              <a:t>Name ();</a:t>
            </a:r>
            <a:endParaRPr lang="en-US" dirty="0"/>
          </a:p>
          <a:p>
            <a:pPr lvl="4"/>
            <a:endParaRPr lang="en-US" dirty="0"/>
          </a:p>
          <a:p>
            <a:pPr lvl="4"/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lvl="4"/>
            <a:r>
              <a:rPr lang="en-US" dirty="0"/>
              <a:t>{</a:t>
            </a:r>
          </a:p>
          <a:p>
            <a:pPr lvl="4"/>
            <a:r>
              <a:rPr lang="en-US" dirty="0"/>
              <a:t>	Name();</a:t>
            </a:r>
          </a:p>
          <a:p>
            <a:pPr lvl="4"/>
            <a:r>
              <a:rPr lang="en-US" dirty="0"/>
              <a:t>	Name();</a:t>
            </a:r>
          </a:p>
          <a:p>
            <a:pPr lvl="4"/>
            <a:endParaRPr lang="en-US" dirty="0"/>
          </a:p>
          <a:p>
            <a:pPr lvl="4"/>
            <a:r>
              <a:rPr lang="en-US" dirty="0"/>
              <a:t>	return 0;</a:t>
            </a:r>
          </a:p>
          <a:p>
            <a:pPr lvl="4"/>
            <a:r>
              <a:rPr lang="en-US" dirty="0"/>
              <a:t>}</a:t>
            </a:r>
          </a:p>
          <a:p>
            <a:pPr lvl="4"/>
            <a:r>
              <a:rPr lang="en-US" dirty="0"/>
              <a:t>void Name(){</a:t>
            </a:r>
          </a:p>
          <a:p>
            <a:pPr lvl="4"/>
            <a:r>
              <a:rPr lang="en-US" dirty="0"/>
              <a:t>    </a:t>
            </a:r>
          </a:p>
          <a:p>
            <a:pPr lvl="5"/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Samia</a:t>
            </a:r>
            <a:r>
              <a:rPr lang="en-US" dirty="0"/>
              <a:t>\n");</a:t>
            </a:r>
          </a:p>
          <a:p>
            <a:pPr lvl="5"/>
            <a:r>
              <a:rPr lang="en-US" dirty="0"/>
              <a:t>    </a:t>
            </a:r>
          </a:p>
          <a:p>
            <a:pPr lvl="5"/>
            <a:r>
              <a:rPr lang="en-US" dirty="0" smtClean="0"/>
              <a:t>	}</a:t>
            </a:r>
          </a:p>
          <a:p>
            <a:pPr lvl="1"/>
            <a:r>
              <a:rPr lang="en-US" dirty="0" smtClean="0"/>
              <a:t>	</a:t>
            </a:r>
            <a:r>
              <a:rPr lang="en-US" u="sng" dirty="0" smtClean="0"/>
              <a:t>Output</a:t>
            </a:r>
            <a:r>
              <a:rPr lang="en-US" dirty="0"/>
              <a:t>:    </a:t>
            </a:r>
            <a:r>
              <a:rPr lang="en-US" dirty="0" err="1"/>
              <a:t>Samia</a:t>
            </a:r>
            <a:endParaRPr lang="en-US" dirty="0"/>
          </a:p>
          <a:p>
            <a:pPr lvl="4"/>
            <a:r>
              <a:rPr lang="en-US" dirty="0" err="1" smtClean="0"/>
              <a:t>Samia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7582663" y="2333003"/>
            <a:ext cx="612754" cy="350323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4" idx="7"/>
          </p:cNvCxnSpPr>
          <p:nvPr/>
        </p:nvCxnSpPr>
        <p:spPr>
          <a:xfrm flipV="1">
            <a:off x="8105681" y="2264230"/>
            <a:ext cx="1055411" cy="120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61092" y="2016542"/>
            <a:ext cx="1692067" cy="66678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 smtClean="0"/>
              <a:t>Function name..</a:t>
            </a:r>
          </a:p>
          <a:p>
            <a:r>
              <a:rPr lang="en-US" sz="1100" dirty="0" smtClean="0"/>
              <a:t>Can be anything.(can’t be the existing ones) Like variable.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4579" y="485961"/>
            <a:ext cx="69557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Function can only return one value at a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Changes to parameter in function don’t change the values in calling function. (because a copy of argument is passed to the function the real value remain intact)</a:t>
            </a:r>
            <a:endParaRPr lang="en-US" sz="16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211362" y="549019"/>
            <a:ext cx="0" cy="861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99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733" y="119641"/>
            <a:ext cx="2366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 smtClean="0"/>
              <a:t>Passing arguments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2011" y="615297"/>
            <a:ext cx="41789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smtClean="0">
                <a:sym typeface="Wingdings" panose="05000000000000000000" pitchFamily="2" charset="2"/>
              </a:rPr>
              <a:t>A function  Take value (parameter)</a:t>
            </a:r>
          </a:p>
          <a:p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dirty="0" smtClean="0">
                <a:sym typeface="Wingdings" panose="05000000000000000000" pitchFamily="2" charset="2"/>
              </a:rPr>
              <a:t>       Gives value (return value)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v</a:t>
            </a:r>
            <a:r>
              <a:rPr lang="en-US" dirty="0" smtClean="0">
                <a:sym typeface="Wingdings" panose="05000000000000000000" pitchFamily="2" charset="2"/>
              </a:rPr>
              <a:t>oid </a:t>
            </a:r>
            <a:r>
              <a:rPr lang="en-US" dirty="0" err="1" smtClean="0">
                <a:sym typeface="Wingdings" panose="05000000000000000000" pitchFamily="2" charset="2"/>
              </a:rPr>
              <a:t>print_Name</a:t>
            </a:r>
            <a:r>
              <a:rPr lang="en-US" dirty="0" smtClean="0">
                <a:sym typeface="Wingdings" panose="05000000000000000000" pitchFamily="2" charset="2"/>
              </a:rPr>
              <a:t>(  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void </a:t>
            </a:r>
            <a:r>
              <a:rPr lang="en-US" dirty="0" err="1" smtClean="0">
                <a:sym typeface="Wingdings" panose="05000000000000000000" pitchFamily="2" charset="2"/>
              </a:rPr>
              <a:t>prinTable</a:t>
            </a:r>
            <a:r>
              <a:rPr lang="en-US" dirty="0" smtClean="0">
                <a:sym typeface="Wingdings" panose="05000000000000000000" pitchFamily="2" charset="2"/>
              </a:rPr>
              <a:t>(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n 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sum(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a ,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b )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52412" y="1353961"/>
            <a:ext cx="2407595" cy="2852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/>
          <p:cNvSpPr/>
          <p:nvPr/>
        </p:nvSpPr>
        <p:spPr>
          <a:xfrm rot="16200000">
            <a:off x="2325149" y="1444086"/>
            <a:ext cx="52673" cy="569116"/>
          </a:xfrm>
          <a:prstGeom prst="leftBrace">
            <a:avLst>
              <a:gd name="adj1" fmla="val 8333"/>
              <a:gd name="adj2" fmla="val 5057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rot="16200000">
            <a:off x="1997135" y="1471376"/>
            <a:ext cx="46214" cy="1116309"/>
          </a:xfrm>
          <a:prstGeom prst="leftBrace">
            <a:avLst>
              <a:gd name="adj1" fmla="val 8333"/>
              <a:gd name="adj2" fmla="val 5057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2572219" y="1571625"/>
            <a:ext cx="1626362" cy="457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630648" y="1529442"/>
            <a:ext cx="1182327" cy="1992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760007" y="1468617"/>
            <a:ext cx="1336911" cy="33196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parameter</a:t>
            </a:r>
            <a:endParaRPr lang="en-US" sz="1400" dirty="0"/>
          </a:p>
        </p:txBody>
      </p:sp>
      <p:sp>
        <p:nvSpPr>
          <p:cNvPr id="22" name="Freeform 21"/>
          <p:cNvSpPr/>
          <p:nvPr/>
        </p:nvSpPr>
        <p:spPr>
          <a:xfrm>
            <a:off x="645318" y="1235869"/>
            <a:ext cx="481013" cy="793661"/>
          </a:xfrm>
          <a:custGeom>
            <a:avLst/>
            <a:gdLst>
              <a:gd name="connsiteX0" fmla="*/ 367114 w 517133"/>
              <a:gd name="connsiteY0" fmla="*/ 800100 h 873919"/>
              <a:gd name="connsiteX1" fmla="*/ 369495 w 517133"/>
              <a:gd name="connsiteY1" fmla="*/ 745332 h 873919"/>
              <a:gd name="connsiteX2" fmla="*/ 371877 w 517133"/>
              <a:gd name="connsiteY2" fmla="*/ 738188 h 873919"/>
              <a:gd name="connsiteX3" fmla="*/ 374258 w 517133"/>
              <a:gd name="connsiteY3" fmla="*/ 721519 h 873919"/>
              <a:gd name="connsiteX4" fmla="*/ 376639 w 517133"/>
              <a:gd name="connsiteY4" fmla="*/ 628650 h 873919"/>
              <a:gd name="connsiteX5" fmla="*/ 381402 w 517133"/>
              <a:gd name="connsiteY5" fmla="*/ 614363 h 873919"/>
              <a:gd name="connsiteX6" fmla="*/ 383783 w 517133"/>
              <a:gd name="connsiteY6" fmla="*/ 607219 h 873919"/>
              <a:gd name="connsiteX7" fmla="*/ 386164 w 517133"/>
              <a:gd name="connsiteY7" fmla="*/ 600075 h 873919"/>
              <a:gd name="connsiteX8" fmla="*/ 390927 w 517133"/>
              <a:gd name="connsiteY8" fmla="*/ 592932 h 873919"/>
              <a:gd name="connsiteX9" fmla="*/ 412358 w 517133"/>
              <a:gd name="connsiteY9" fmla="*/ 576263 h 873919"/>
              <a:gd name="connsiteX10" fmla="*/ 419502 w 517133"/>
              <a:gd name="connsiteY10" fmla="*/ 571500 h 873919"/>
              <a:gd name="connsiteX11" fmla="*/ 426645 w 517133"/>
              <a:gd name="connsiteY11" fmla="*/ 569119 h 873919"/>
              <a:gd name="connsiteX12" fmla="*/ 433789 w 517133"/>
              <a:gd name="connsiteY12" fmla="*/ 564357 h 873919"/>
              <a:gd name="connsiteX13" fmla="*/ 440933 w 517133"/>
              <a:gd name="connsiteY13" fmla="*/ 561975 h 873919"/>
              <a:gd name="connsiteX14" fmla="*/ 455220 w 517133"/>
              <a:gd name="connsiteY14" fmla="*/ 554832 h 873919"/>
              <a:gd name="connsiteX15" fmla="*/ 469508 w 517133"/>
              <a:gd name="connsiteY15" fmla="*/ 547688 h 873919"/>
              <a:gd name="connsiteX16" fmla="*/ 483795 w 517133"/>
              <a:gd name="connsiteY16" fmla="*/ 535782 h 873919"/>
              <a:gd name="connsiteX17" fmla="*/ 490939 w 517133"/>
              <a:gd name="connsiteY17" fmla="*/ 533400 h 873919"/>
              <a:gd name="connsiteX18" fmla="*/ 498083 w 517133"/>
              <a:gd name="connsiteY18" fmla="*/ 526257 h 873919"/>
              <a:gd name="connsiteX19" fmla="*/ 507608 w 517133"/>
              <a:gd name="connsiteY19" fmla="*/ 507207 h 873919"/>
              <a:gd name="connsiteX20" fmla="*/ 512370 w 517133"/>
              <a:gd name="connsiteY20" fmla="*/ 483394 h 873919"/>
              <a:gd name="connsiteX21" fmla="*/ 517133 w 517133"/>
              <a:gd name="connsiteY21" fmla="*/ 473869 h 873919"/>
              <a:gd name="connsiteX22" fmla="*/ 514752 w 517133"/>
              <a:gd name="connsiteY22" fmla="*/ 373857 h 873919"/>
              <a:gd name="connsiteX23" fmla="*/ 507608 w 517133"/>
              <a:gd name="connsiteY23" fmla="*/ 345282 h 873919"/>
              <a:gd name="connsiteX24" fmla="*/ 502845 w 517133"/>
              <a:gd name="connsiteY24" fmla="*/ 328613 h 873919"/>
              <a:gd name="connsiteX25" fmla="*/ 498083 w 517133"/>
              <a:gd name="connsiteY25" fmla="*/ 314325 h 873919"/>
              <a:gd name="connsiteX26" fmla="*/ 495702 w 517133"/>
              <a:gd name="connsiteY26" fmla="*/ 302419 h 873919"/>
              <a:gd name="connsiteX27" fmla="*/ 490939 w 517133"/>
              <a:gd name="connsiteY27" fmla="*/ 285750 h 873919"/>
              <a:gd name="connsiteX28" fmla="*/ 481414 w 517133"/>
              <a:gd name="connsiteY28" fmla="*/ 238125 h 873919"/>
              <a:gd name="connsiteX29" fmla="*/ 479033 w 517133"/>
              <a:gd name="connsiteY29" fmla="*/ 211932 h 873919"/>
              <a:gd name="connsiteX30" fmla="*/ 474270 w 517133"/>
              <a:gd name="connsiteY30" fmla="*/ 183357 h 873919"/>
              <a:gd name="connsiteX31" fmla="*/ 471889 w 517133"/>
              <a:gd name="connsiteY31" fmla="*/ 166688 h 873919"/>
              <a:gd name="connsiteX32" fmla="*/ 469508 w 517133"/>
              <a:gd name="connsiteY32" fmla="*/ 130969 h 873919"/>
              <a:gd name="connsiteX33" fmla="*/ 467127 w 517133"/>
              <a:gd name="connsiteY33" fmla="*/ 123825 h 873919"/>
              <a:gd name="connsiteX34" fmla="*/ 462364 w 517133"/>
              <a:gd name="connsiteY34" fmla="*/ 107157 h 873919"/>
              <a:gd name="connsiteX35" fmla="*/ 459983 w 517133"/>
              <a:gd name="connsiteY35" fmla="*/ 92869 h 873919"/>
              <a:gd name="connsiteX36" fmla="*/ 455220 w 517133"/>
              <a:gd name="connsiteY36" fmla="*/ 78582 h 873919"/>
              <a:gd name="connsiteX37" fmla="*/ 450458 w 517133"/>
              <a:gd name="connsiteY37" fmla="*/ 57150 h 873919"/>
              <a:gd name="connsiteX38" fmla="*/ 438552 w 517133"/>
              <a:gd name="connsiteY38" fmla="*/ 16669 h 873919"/>
              <a:gd name="connsiteX39" fmla="*/ 431408 w 517133"/>
              <a:gd name="connsiteY39" fmla="*/ 11907 h 873919"/>
              <a:gd name="connsiteX40" fmla="*/ 405214 w 517133"/>
              <a:gd name="connsiteY40" fmla="*/ 7144 h 873919"/>
              <a:gd name="connsiteX41" fmla="*/ 379020 w 517133"/>
              <a:gd name="connsiteY41" fmla="*/ 2382 h 873919"/>
              <a:gd name="connsiteX42" fmla="*/ 295677 w 517133"/>
              <a:gd name="connsiteY42" fmla="*/ 0 h 873919"/>
              <a:gd name="connsiteX43" fmla="*/ 107558 w 517133"/>
              <a:gd name="connsiteY43" fmla="*/ 2382 h 873919"/>
              <a:gd name="connsiteX44" fmla="*/ 83745 w 517133"/>
              <a:gd name="connsiteY44" fmla="*/ 7144 h 873919"/>
              <a:gd name="connsiteX45" fmla="*/ 59933 w 517133"/>
              <a:gd name="connsiteY45" fmla="*/ 14288 h 873919"/>
              <a:gd name="connsiteX46" fmla="*/ 52789 w 517133"/>
              <a:gd name="connsiteY46" fmla="*/ 16669 h 873919"/>
              <a:gd name="connsiteX47" fmla="*/ 45645 w 517133"/>
              <a:gd name="connsiteY47" fmla="*/ 19050 h 873919"/>
              <a:gd name="connsiteX48" fmla="*/ 38502 w 517133"/>
              <a:gd name="connsiteY48" fmla="*/ 23813 h 873919"/>
              <a:gd name="connsiteX49" fmla="*/ 28977 w 517133"/>
              <a:gd name="connsiteY49" fmla="*/ 26194 h 873919"/>
              <a:gd name="connsiteX50" fmla="*/ 21833 w 517133"/>
              <a:gd name="connsiteY50" fmla="*/ 28575 h 873919"/>
              <a:gd name="connsiteX51" fmla="*/ 14689 w 517133"/>
              <a:gd name="connsiteY51" fmla="*/ 35719 h 873919"/>
              <a:gd name="connsiteX52" fmla="*/ 9927 w 517133"/>
              <a:gd name="connsiteY52" fmla="*/ 54769 h 873919"/>
              <a:gd name="connsiteX53" fmla="*/ 5164 w 517133"/>
              <a:gd name="connsiteY53" fmla="*/ 61913 h 873919"/>
              <a:gd name="connsiteX54" fmla="*/ 2783 w 517133"/>
              <a:gd name="connsiteY54" fmla="*/ 69057 h 873919"/>
              <a:gd name="connsiteX55" fmla="*/ 7545 w 517133"/>
              <a:gd name="connsiteY55" fmla="*/ 183357 h 873919"/>
              <a:gd name="connsiteX56" fmla="*/ 9927 w 517133"/>
              <a:gd name="connsiteY56" fmla="*/ 592932 h 873919"/>
              <a:gd name="connsiteX57" fmla="*/ 14689 w 517133"/>
              <a:gd name="connsiteY57" fmla="*/ 669132 h 873919"/>
              <a:gd name="connsiteX58" fmla="*/ 17070 w 517133"/>
              <a:gd name="connsiteY58" fmla="*/ 676275 h 873919"/>
              <a:gd name="connsiteX59" fmla="*/ 19452 w 517133"/>
              <a:gd name="connsiteY59" fmla="*/ 702469 h 873919"/>
              <a:gd name="connsiteX60" fmla="*/ 24214 w 517133"/>
              <a:gd name="connsiteY60" fmla="*/ 723900 h 873919"/>
              <a:gd name="connsiteX61" fmla="*/ 26595 w 517133"/>
              <a:gd name="connsiteY61" fmla="*/ 735807 h 873919"/>
              <a:gd name="connsiteX62" fmla="*/ 31358 w 517133"/>
              <a:gd name="connsiteY62" fmla="*/ 750094 h 873919"/>
              <a:gd name="connsiteX63" fmla="*/ 38502 w 517133"/>
              <a:gd name="connsiteY63" fmla="*/ 776288 h 873919"/>
              <a:gd name="connsiteX64" fmla="*/ 43264 w 517133"/>
              <a:gd name="connsiteY64" fmla="*/ 783432 h 873919"/>
              <a:gd name="connsiteX65" fmla="*/ 45645 w 517133"/>
              <a:gd name="connsiteY65" fmla="*/ 790575 h 873919"/>
              <a:gd name="connsiteX66" fmla="*/ 52789 w 517133"/>
              <a:gd name="connsiteY66" fmla="*/ 797719 h 873919"/>
              <a:gd name="connsiteX67" fmla="*/ 59933 w 517133"/>
              <a:gd name="connsiteY67" fmla="*/ 809625 h 873919"/>
              <a:gd name="connsiteX68" fmla="*/ 67077 w 517133"/>
              <a:gd name="connsiteY68" fmla="*/ 826294 h 873919"/>
              <a:gd name="connsiteX69" fmla="*/ 69458 w 517133"/>
              <a:gd name="connsiteY69" fmla="*/ 833438 h 873919"/>
              <a:gd name="connsiteX70" fmla="*/ 83745 w 517133"/>
              <a:gd name="connsiteY70" fmla="*/ 840582 h 873919"/>
              <a:gd name="connsiteX71" fmla="*/ 90889 w 517133"/>
              <a:gd name="connsiteY71" fmla="*/ 845344 h 873919"/>
              <a:gd name="connsiteX72" fmla="*/ 102795 w 517133"/>
              <a:gd name="connsiteY72" fmla="*/ 854869 h 873919"/>
              <a:gd name="connsiteX73" fmla="*/ 109939 w 517133"/>
              <a:gd name="connsiteY73" fmla="*/ 859632 h 873919"/>
              <a:gd name="connsiteX74" fmla="*/ 126608 w 517133"/>
              <a:gd name="connsiteY74" fmla="*/ 864394 h 873919"/>
              <a:gd name="connsiteX75" fmla="*/ 138514 w 517133"/>
              <a:gd name="connsiteY75" fmla="*/ 866775 h 873919"/>
              <a:gd name="connsiteX76" fmla="*/ 145658 w 517133"/>
              <a:gd name="connsiteY76" fmla="*/ 869157 h 873919"/>
              <a:gd name="connsiteX77" fmla="*/ 174233 w 517133"/>
              <a:gd name="connsiteY77" fmla="*/ 871538 h 873919"/>
              <a:gd name="connsiteX78" fmla="*/ 193283 w 517133"/>
              <a:gd name="connsiteY78" fmla="*/ 873919 h 873919"/>
              <a:gd name="connsiteX79" fmla="*/ 245670 w 517133"/>
              <a:gd name="connsiteY79" fmla="*/ 871538 h 873919"/>
              <a:gd name="connsiteX80" fmla="*/ 252814 w 517133"/>
              <a:gd name="connsiteY80" fmla="*/ 869157 h 873919"/>
              <a:gd name="connsiteX81" fmla="*/ 279008 w 517133"/>
              <a:gd name="connsiteY81" fmla="*/ 864394 h 873919"/>
              <a:gd name="connsiteX82" fmla="*/ 283770 w 517133"/>
              <a:gd name="connsiteY82" fmla="*/ 857250 h 873919"/>
              <a:gd name="connsiteX83" fmla="*/ 305202 w 517133"/>
              <a:gd name="connsiteY83" fmla="*/ 850107 h 873919"/>
              <a:gd name="connsiteX84" fmla="*/ 312345 w 517133"/>
              <a:gd name="connsiteY84" fmla="*/ 847725 h 873919"/>
              <a:gd name="connsiteX85" fmla="*/ 331395 w 517133"/>
              <a:gd name="connsiteY85" fmla="*/ 842963 h 873919"/>
              <a:gd name="connsiteX86" fmla="*/ 338539 w 517133"/>
              <a:gd name="connsiteY86" fmla="*/ 835819 h 873919"/>
              <a:gd name="connsiteX87" fmla="*/ 345683 w 517133"/>
              <a:gd name="connsiteY87" fmla="*/ 833438 h 873919"/>
              <a:gd name="connsiteX88" fmla="*/ 350445 w 517133"/>
              <a:gd name="connsiteY88" fmla="*/ 826294 h 873919"/>
              <a:gd name="connsiteX89" fmla="*/ 357589 w 517133"/>
              <a:gd name="connsiteY89" fmla="*/ 821532 h 873919"/>
              <a:gd name="connsiteX90" fmla="*/ 367114 w 517133"/>
              <a:gd name="connsiteY90" fmla="*/ 800100 h 87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17133" h="873919">
                <a:moveTo>
                  <a:pt x="367114" y="800100"/>
                </a:moveTo>
                <a:cubicBezTo>
                  <a:pt x="369098" y="787400"/>
                  <a:pt x="368093" y="763551"/>
                  <a:pt x="369495" y="745332"/>
                </a:cubicBezTo>
                <a:cubicBezTo>
                  <a:pt x="369688" y="742829"/>
                  <a:pt x="371385" y="740649"/>
                  <a:pt x="371877" y="738188"/>
                </a:cubicBezTo>
                <a:cubicBezTo>
                  <a:pt x="372978" y="732684"/>
                  <a:pt x="373464" y="727075"/>
                  <a:pt x="374258" y="721519"/>
                </a:cubicBezTo>
                <a:cubicBezTo>
                  <a:pt x="375052" y="690563"/>
                  <a:pt x="374579" y="659548"/>
                  <a:pt x="376639" y="628650"/>
                </a:cubicBezTo>
                <a:cubicBezTo>
                  <a:pt x="376973" y="623641"/>
                  <a:pt x="379814" y="619125"/>
                  <a:pt x="381402" y="614363"/>
                </a:cubicBezTo>
                <a:lnTo>
                  <a:pt x="383783" y="607219"/>
                </a:lnTo>
                <a:cubicBezTo>
                  <a:pt x="384577" y="604838"/>
                  <a:pt x="384771" y="602163"/>
                  <a:pt x="386164" y="600075"/>
                </a:cubicBezTo>
                <a:cubicBezTo>
                  <a:pt x="387752" y="597694"/>
                  <a:pt x="389095" y="595130"/>
                  <a:pt x="390927" y="592932"/>
                </a:cubicBezTo>
                <a:cubicBezTo>
                  <a:pt x="397924" y="584535"/>
                  <a:pt x="402395" y="582905"/>
                  <a:pt x="412358" y="576263"/>
                </a:cubicBezTo>
                <a:cubicBezTo>
                  <a:pt x="414739" y="574675"/>
                  <a:pt x="416787" y="572405"/>
                  <a:pt x="419502" y="571500"/>
                </a:cubicBezTo>
                <a:cubicBezTo>
                  <a:pt x="421883" y="570706"/>
                  <a:pt x="424400" y="570241"/>
                  <a:pt x="426645" y="569119"/>
                </a:cubicBezTo>
                <a:cubicBezTo>
                  <a:pt x="429205" y="567839"/>
                  <a:pt x="431229" y="565637"/>
                  <a:pt x="433789" y="564357"/>
                </a:cubicBezTo>
                <a:cubicBezTo>
                  <a:pt x="436034" y="563234"/>
                  <a:pt x="438688" y="563098"/>
                  <a:pt x="440933" y="561975"/>
                </a:cubicBezTo>
                <a:cubicBezTo>
                  <a:pt x="459393" y="552745"/>
                  <a:pt x="437270" y="560815"/>
                  <a:pt x="455220" y="554832"/>
                </a:cubicBezTo>
                <a:cubicBezTo>
                  <a:pt x="475694" y="541182"/>
                  <a:pt x="449790" y="557547"/>
                  <a:pt x="469508" y="547688"/>
                </a:cubicBezTo>
                <a:cubicBezTo>
                  <a:pt x="485086" y="539899"/>
                  <a:pt x="468001" y="546312"/>
                  <a:pt x="483795" y="535782"/>
                </a:cubicBezTo>
                <a:cubicBezTo>
                  <a:pt x="485884" y="534390"/>
                  <a:pt x="488558" y="534194"/>
                  <a:pt x="490939" y="533400"/>
                </a:cubicBezTo>
                <a:cubicBezTo>
                  <a:pt x="493320" y="531019"/>
                  <a:pt x="496062" y="528951"/>
                  <a:pt x="498083" y="526257"/>
                </a:cubicBezTo>
                <a:cubicBezTo>
                  <a:pt x="504831" y="517260"/>
                  <a:pt x="504678" y="515996"/>
                  <a:pt x="507608" y="507207"/>
                </a:cubicBezTo>
                <a:cubicBezTo>
                  <a:pt x="508431" y="502271"/>
                  <a:pt x="510239" y="489076"/>
                  <a:pt x="512370" y="483394"/>
                </a:cubicBezTo>
                <a:cubicBezTo>
                  <a:pt x="513616" y="480070"/>
                  <a:pt x="515545" y="477044"/>
                  <a:pt x="517133" y="473869"/>
                </a:cubicBezTo>
                <a:cubicBezTo>
                  <a:pt x="516339" y="440532"/>
                  <a:pt x="516059" y="407178"/>
                  <a:pt x="514752" y="373857"/>
                </a:cubicBezTo>
                <a:cubicBezTo>
                  <a:pt x="513909" y="352364"/>
                  <a:pt x="515619" y="357298"/>
                  <a:pt x="507608" y="345282"/>
                </a:cubicBezTo>
                <a:cubicBezTo>
                  <a:pt x="499606" y="321273"/>
                  <a:pt x="511815" y="358514"/>
                  <a:pt x="502845" y="328613"/>
                </a:cubicBezTo>
                <a:cubicBezTo>
                  <a:pt x="501402" y="323805"/>
                  <a:pt x="499404" y="319168"/>
                  <a:pt x="498083" y="314325"/>
                </a:cubicBezTo>
                <a:cubicBezTo>
                  <a:pt x="497018" y="310420"/>
                  <a:pt x="496684" y="306345"/>
                  <a:pt x="495702" y="302419"/>
                </a:cubicBezTo>
                <a:cubicBezTo>
                  <a:pt x="491159" y="284249"/>
                  <a:pt x="495397" y="308038"/>
                  <a:pt x="490939" y="285750"/>
                </a:cubicBezTo>
                <a:cubicBezTo>
                  <a:pt x="480610" y="234104"/>
                  <a:pt x="487583" y="262802"/>
                  <a:pt x="481414" y="238125"/>
                </a:cubicBezTo>
                <a:cubicBezTo>
                  <a:pt x="480620" y="229394"/>
                  <a:pt x="480167" y="220625"/>
                  <a:pt x="479033" y="211932"/>
                </a:cubicBezTo>
                <a:cubicBezTo>
                  <a:pt x="477784" y="202357"/>
                  <a:pt x="475635" y="192916"/>
                  <a:pt x="474270" y="183357"/>
                </a:cubicBezTo>
                <a:lnTo>
                  <a:pt x="471889" y="166688"/>
                </a:lnTo>
                <a:cubicBezTo>
                  <a:pt x="471095" y="154782"/>
                  <a:pt x="470826" y="142829"/>
                  <a:pt x="469508" y="130969"/>
                </a:cubicBezTo>
                <a:cubicBezTo>
                  <a:pt x="469231" y="128474"/>
                  <a:pt x="467848" y="126229"/>
                  <a:pt x="467127" y="123825"/>
                </a:cubicBezTo>
                <a:cubicBezTo>
                  <a:pt x="465467" y="118290"/>
                  <a:pt x="463663" y="112787"/>
                  <a:pt x="462364" y="107157"/>
                </a:cubicBezTo>
                <a:cubicBezTo>
                  <a:pt x="461278" y="102452"/>
                  <a:pt x="461154" y="97553"/>
                  <a:pt x="459983" y="92869"/>
                </a:cubicBezTo>
                <a:cubicBezTo>
                  <a:pt x="458765" y="87999"/>
                  <a:pt x="456309" y="83483"/>
                  <a:pt x="455220" y="78582"/>
                </a:cubicBezTo>
                <a:cubicBezTo>
                  <a:pt x="453633" y="71438"/>
                  <a:pt x="452134" y="64274"/>
                  <a:pt x="450458" y="57150"/>
                </a:cubicBezTo>
                <a:cubicBezTo>
                  <a:pt x="449544" y="53267"/>
                  <a:pt x="441235" y="18458"/>
                  <a:pt x="438552" y="16669"/>
                </a:cubicBezTo>
                <a:cubicBezTo>
                  <a:pt x="436171" y="15082"/>
                  <a:pt x="433968" y="13187"/>
                  <a:pt x="431408" y="11907"/>
                </a:cubicBezTo>
                <a:cubicBezTo>
                  <a:pt x="423848" y="8127"/>
                  <a:pt x="412339" y="8240"/>
                  <a:pt x="405214" y="7144"/>
                </a:cubicBezTo>
                <a:cubicBezTo>
                  <a:pt x="398454" y="6104"/>
                  <a:pt x="385512" y="2699"/>
                  <a:pt x="379020" y="2382"/>
                </a:cubicBezTo>
                <a:cubicBezTo>
                  <a:pt x="351261" y="1028"/>
                  <a:pt x="323458" y="794"/>
                  <a:pt x="295677" y="0"/>
                </a:cubicBezTo>
                <a:cubicBezTo>
                  <a:pt x="232971" y="794"/>
                  <a:pt x="170234" y="269"/>
                  <a:pt x="107558" y="2382"/>
                </a:cubicBezTo>
                <a:cubicBezTo>
                  <a:pt x="99468" y="2655"/>
                  <a:pt x="91598" y="5181"/>
                  <a:pt x="83745" y="7144"/>
                </a:cubicBezTo>
                <a:cubicBezTo>
                  <a:pt x="69346" y="10743"/>
                  <a:pt x="77331" y="8488"/>
                  <a:pt x="59933" y="14288"/>
                </a:cubicBezTo>
                <a:lnTo>
                  <a:pt x="52789" y="16669"/>
                </a:lnTo>
                <a:lnTo>
                  <a:pt x="45645" y="19050"/>
                </a:lnTo>
                <a:cubicBezTo>
                  <a:pt x="43264" y="20638"/>
                  <a:pt x="41132" y="22686"/>
                  <a:pt x="38502" y="23813"/>
                </a:cubicBezTo>
                <a:cubicBezTo>
                  <a:pt x="35494" y="25102"/>
                  <a:pt x="32124" y="25295"/>
                  <a:pt x="28977" y="26194"/>
                </a:cubicBezTo>
                <a:cubicBezTo>
                  <a:pt x="26563" y="26884"/>
                  <a:pt x="24214" y="27781"/>
                  <a:pt x="21833" y="28575"/>
                </a:cubicBezTo>
                <a:cubicBezTo>
                  <a:pt x="19452" y="30956"/>
                  <a:pt x="16083" y="32653"/>
                  <a:pt x="14689" y="35719"/>
                </a:cubicBezTo>
                <a:cubicBezTo>
                  <a:pt x="11981" y="41678"/>
                  <a:pt x="13558" y="49323"/>
                  <a:pt x="9927" y="54769"/>
                </a:cubicBezTo>
                <a:lnTo>
                  <a:pt x="5164" y="61913"/>
                </a:lnTo>
                <a:cubicBezTo>
                  <a:pt x="4370" y="64294"/>
                  <a:pt x="2783" y="66547"/>
                  <a:pt x="2783" y="69057"/>
                </a:cubicBezTo>
                <a:cubicBezTo>
                  <a:pt x="2783" y="171411"/>
                  <a:pt x="-5961" y="142832"/>
                  <a:pt x="7545" y="183357"/>
                </a:cubicBezTo>
                <a:cubicBezTo>
                  <a:pt x="8339" y="319882"/>
                  <a:pt x="8541" y="456412"/>
                  <a:pt x="9927" y="592932"/>
                </a:cubicBezTo>
                <a:cubicBezTo>
                  <a:pt x="10092" y="609136"/>
                  <a:pt x="10190" y="646633"/>
                  <a:pt x="14689" y="669132"/>
                </a:cubicBezTo>
                <a:cubicBezTo>
                  <a:pt x="15181" y="671593"/>
                  <a:pt x="16276" y="673894"/>
                  <a:pt x="17070" y="676275"/>
                </a:cubicBezTo>
                <a:cubicBezTo>
                  <a:pt x="17864" y="685006"/>
                  <a:pt x="18364" y="693769"/>
                  <a:pt x="19452" y="702469"/>
                </a:cubicBezTo>
                <a:cubicBezTo>
                  <a:pt x="20478" y="710679"/>
                  <a:pt x="22466" y="716032"/>
                  <a:pt x="24214" y="723900"/>
                </a:cubicBezTo>
                <a:cubicBezTo>
                  <a:pt x="25092" y="727851"/>
                  <a:pt x="25530" y="731902"/>
                  <a:pt x="26595" y="735807"/>
                </a:cubicBezTo>
                <a:cubicBezTo>
                  <a:pt x="27916" y="740650"/>
                  <a:pt x="30374" y="745171"/>
                  <a:pt x="31358" y="750094"/>
                </a:cubicBezTo>
                <a:cubicBezTo>
                  <a:pt x="32636" y="756486"/>
                  <a:pt x="35048" y="771106"/>
                  <a:pt x="38502" y="776288"/>
                </a:cubicBezTo>
                <a:cubicBezTo>
                  <a:pt x="40089" y="778669"/>
                  <a:pt x="41984" y="780872"/>
                  <a:pt x="43264" y="783432"/>
                </a:cubicBezTo>
                <a:cubicBezTo>
                  <a:pt x="44386" y="785677"/>
                  <a:pt x="44253" y="788487"/>
                  <a:pt x="45645" y="790575"/>
                </a:cubicBezTo>
                <a:cubicBezTo>
                  <a:pt x="47513" y="793377"/>
                  <a:pt x="50768" y="795025"/>
                  <a:pt x="52789" y="797719"/>
                </a:cubicBezTo>
                <a:cubicBezTo>
                  <a:pt x="55566" y="801422"/>
                  <a:pt x="57552" y="805656"/>
                  <a:pt x="59933" y="809625"/>
                </a:cubicBezTo>
                <a:cubicBezTo>
                  <a:pt x="64889" y="829450"/>
                  <a:pt x="58854" y="809848"/>
                  <a:pt x="67077" y="826294"/>
                </a:cubicBezTo>
                <a:cubicBezTo>
                  <a:pt x="68200" y="828539"/>
                  <a:pt x="67890" y="831478"/>
                  <a:pt x="69458" y="833438"/>
                </a:cubicBezTo>
                <a:cubicBezTo>
                  <a:pt x="74005" y="839121"/>
                  <a:pt x="77997" y="837708"/>
                  <a:pt x="83745" y="840582"/>
                </a:cubicBezTo>
                <a:cubicBezTo>
                  <a:pt x="86305" y="841862"/>
                  <a:pt x="88508" y="843757"/>
                  <a:pt x="90889" y="845344"/>
                </a:cubicBezTo>
                <a:cubicBezTo>
                  <a:pt x="98919" y="857387"/>
                  <a:pt x="91293" y="849118"/>
                  <a:pt x="102795" y="854869"/>
                </a:cubicBezTo>
                <a:cubicBezTo>
                  <a:pt x="105355" y="856149"/>
                  <a:pt x="107379" y="858352"/>
                  <a:pt x="109939" y="859632"/>
                </a:cubicBezTo>
                <a:cubicBezTo>
                  <a:pt x="113120" y="861223"/>
                  <a:pt x="123863" y="863784"/>
                  <a:pt x="126608" y="864394"/>
                </a:cubicBezTo>
                <a:cubicBezTo>
                  <a:pt x="130559" y="865272"/>
                  <a:pt x="134588" y="865793"/>
                  <a:pt x="138514" y="866775"/>
                </a:cubicBezTo>
                <a:cubicBezTo>
                  <a:pt x="140949" y="867384"/>
                  <a:pt x="143170" y="868825"/>
                  <a:pt x="145658" y="869157"/>
                </a:cubicBezTo>
                <a:cubicBezTo>
                  <a:pt x="155132" y="870420"/>
                  <a:pt x="164722" y="870587"/>
                  <a:pt x="174233" y="871538"/>
                </a:cubicBezTo>
                <a:cubicBezTo>
                  <a:pt x="180601" y="872175"/>
                  <a:pt x="186933" y="873125"/>
                  <a:pt x="193283" y="873919"/>
                </a:cubicBezTo>
                <a:cubicBezTo>
                  <a:pt x="210745" y="873125"/>
                  <a:pt x="228245" y="872932"/>
                  <a:pt x="245670" y="871538"/>
                </a:cubicBezTo>
                <a:cubicBezTo>
                  <a:pt x="248172" y="871338"/>
                  <a:pt x="250360" y="869683"/>
                  <a:pt x="252814" y="869157"/>
                </a:cubicBezTo>
                <a:cubicBezTo>
                  <a:pt x="261492" y="867297"/>
                  <a:pt x="270277" y="865982"/>
                  <a:pt x="279008" y="864394"/>
                </a:cubicBezTo>
                <a:cubicBezTo>
                  <a:pt x="280595" y="862013"/>
                  <a:pt x="281571" y="859082"/>
                  <a:pt x="283770" y="857250"/>
                </a:cubicBezTo>
                <a:cubicBezTo>
                  <a:pt x="290560" y="851591"/>
                  <a:pt x="297061" y="852143"/>
                  <a:pt x="305202" y="850107"/>
                </a:cubicBezTo>
                <a:cubicBezTo>
                  <a:pt x="307637" y="849498"/>
                  <a:pt x="309924" y="848385"/>
                  <a:pt x="312345" y="847725"/>
                </a:cubicBezTo>
                <a:cubicBezTo>
                  <a:pt x="318660" y="846003"/>
                  <a:pt x="331395" y="842963"/>
                  <a:pt x="331395" y="842963"/>
                </a:cubicBezTo>
                <a:cubicBezTo>
                  <a:pt x="333776" y="840582"/>
                  <a:pt x="335737" y="837687"/>
                  <a:pt x="338539" y="835819"/>
                </a:cubicBezTo>
                <a:cubicBezTo>
                  <a:pt x="340628" y="834427"/>
                  <a:pt x="343723" y="835006"/>
                  <a:pt x="345683" y="833438"/>
                </a:cubicBezTo>
                <a:cubicBezTo>
                  <a:pt x="347918" y="831650"/>
                  <a:pt x="348421" y="828318"/>
                  <a:pt x="350445" y="826294"/>
                </a:cubicBezTo>
                <a:cubicBezTo>
                  <a:pt x="352469" y="824270"/>
                  <a:pt x="355208" y="823119"/>
                  <a:pt x="357589" y="821532"/>
                </a:cubicBezTo>
                <a:cubicBezTo>
                  <a:pt x="363607" y="803479"/>
                  <a:pt x="365130" y="812800"/>
                  <a:pt x="367114" y="800100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2" idx="78"/>
          </p:cNvCxnSpPr>
          <p:nvPr/>
        </p:nvCxnSpPr>
        <p:spPr>
          <a:xfrm flipH="1">
            <a:off x="820396" y="2029530"/>
            <a:ext cx="4705" cy="2436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36734" y="2257064"/>
            <a:ext cx="1325354" cy="27249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ym typeface="Wingdings" panose="05000000000000000000" pitchFamily="2" charset="2"/>
              </a:rPr>
              <a:t>return value</a:t>
            </a:r>
            <a:endParaRPr lang="en-US" sz="1200" dirty="0"/>
          </a:p>
        </p:txBody>
      </p:sp>
      <p:cxnSp>
        <p:nvCxnSpPr>
          <p:cNvPr id="31" name="Straight Connector 30"/>
          <p:cNvCxnSpPr>
            <a:stCxn id="17" idx="1"/>
          </p:cNvCxnSpPr>
          <p:nvPr/>
        </p:nvCxnSpPr>
        <p:spPr>
          <a:xfrm flipH="1" flipV="1">
            <a:off x="4939469" y="119641"/>
            <a:ext cx="16324" cy="139759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939469" y="119641"/>
            <a:ext cx="282011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947631" y="613872"/>
            <a:ext cx="282011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35255" y="-36868"/>
            <a:ext cx="46478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Actual parameter/Argument(In function call)</a:t>
            </a:r>
          </a:p>
          <a:p>
            <a:r>
              <a:rPr lang="en-US" sz="1600" dirty="0" smtClean="0"/>
              <a:t> </a:t>
            </a:r>
          </a:p>
          <a:p>
            <a:r>
              <a:rPr lang="en-US" sz="1600" dirty="0" smtClean="0"/>
              <a:t>Formal parameter/Parameter(In function declaration)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282011" y="2518350"/>
            <a:ext cx="4334520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 smtClean="0"/>
              <a:t>Ex</a:t>
            </a:r>
            <a:r>
              <a:rPr lang="en-US" dirty="0" smtClean="0"/>
              <a:t> : Print times table.</a:t>
            </a:r>
          </a:p>
          <a:p>
            <a:r>
              <a:rPr lang="en-US" dirty="0"/>
              <a:t>	</a:t>
            </a:r>
            <a:r>
              <a:rPr lang="en-US" sz="1600" dirty="0"/>
              <a:t>#include&lt;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endParaRPr lang="en-US" sz="1600" dirty="0"/>
          </a:p>
          <a:p>
            <a:pPr lvl="2"/>
            <a:r>
              <a:rPr lang="en-US" sz="1600" dirty="0"/>
              <a:t>void tables(</a:t>
            </a:r>
            <a:r>
              <a:rPr lang="en-US" sz="1600" dirty="0" err="1"/>
              <a:t>int</a:t>
            </a:r>
            <a:r>
              <a:rPr lang="en-US" sz="1600" dirty="0"/>
              <a:t> n){</a:t>
            </a:r>
          </a:p>
          <a:p>
            <a:pPr lvl="2"/>
            <a:r>
              <a:rPr lang="en-US" sz="1600" dirty="0"/>
              <a:t>    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=1;i&lt;=10;i++){</a:t>
            </a:r>
          </a:p>
          <a:p>
            <a:pPr lvl="2"/>
            <a:r>
              <a:rPr lang="en-US" sz="1600" dirty="0"/>
              <a:t>        </a:t>
            </a:r>
            <a:r>
              <a:rPr lang="en-US" sz="1600" dirty="0" err="1"/>
              <a:t>printf</a:t>
            </a:r>
            <a:r>
              <a:rPr lang="en-US" sz="1600" dirty="0"/>
              <a:t>("%d X %d = %d\n", n, </a:t>
            </a:r>
            <a:r>
              <a:rPr lang="en-US" sz="1600" dirty="0" err="1"/>
              <a:t>i</a:t>
            </a:r>
            <a:r>
              <a:rPr lang="en-US" sz="1600" dirty="0"/>
              <a:t>, </a:t>
            </a:r>
            <a:r>
              <a:rPr lang="en-US" sz="1600" dirty="0" err="1"/>
              <a:t>i</a:t>
            </a:r>
            <a:r>
              <a:rPr lang="en-US" sz="1600" dirty="0"/>
              <a:t>*n);</a:t>
            </a:r>
          </a:p>
          <a:p>
            <a:pPr lvl="2"/>
            <a:r>
              <a:rPr lang="en-US" sz="1600" dirty="0"/>
              <a:t>    }</a:t>
            </a:r>
          </a:p>
          <a:p>
            <a:pPr lvl="2"/>
            <a:r>
              <a:rPr lang="en-US" sz="1600" dirty="0"/>
              <a:t>}</a:t>
            </a:r>
          </a:p>
          <a:p>
            <a:pPr lvl="2"/>
            <a:r>
              <a:rPr lang="en-US" sz="1600" dirty="0" err="1"/>
              <a:t>int</a:t>
            </a:r>
            <a:r>
              <a:rPr lang="en-US" sz="1600" dirty="0"/>
              <a:t> main()</a:t>
            </a:r>
          </a:p>
          <a:p>
            <a:pPr lvl="2"/>
            <a:r>
              <a:rPr lang="en-US" sz="1600" dirty="0"/>
              <a:t>{   </a:t>
            </a:r>
            <a:r>
              <a:rPr lang="en-US" sz="1600" dirty="0" err="1"/>
              <a:t>int</a:t>
            </a:r>
            <a:r>
              <a:rPr lang="en-US" sz="1600" dirty="0"/>
              <a:t> n;</a:t>
            </a:r>
          </a:p>
          <a:p>
            <a:pPr lvl="2"/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("Enter number: ");</a:t>
            </a:r>
          </a:p>
          <a:p>
            <a:pPr lvl="2"/>
            <a:r>
              <a:rPr lang="en-US" sz="1600" dirty="0"/>
              <a:t>    scanf("%d", &amp;n);</a:t>
            </a:r>
          </a:p>
          <a:p>
            <a:pPr lvl="2"/>
            <a:endParaRPr lang="en-US" sz="1600" dirty="0"/>
          </a:p>
          <a:p>
            <a:pPr lvl="2"/>
            <a:r>
              <a:rPr lang="en-US" sz="1600" dirty="0"/>
              <a:t>    tables(n);</a:t>
            </a:r>
          </a:p>
          <a:p>
            <a:pPr lvl="2"/>
            <a:endParaRPr lang="en-US" sz="1600" dirty="0"/>
          </a:p>
          <a:p>
            <a:pPr lvl="2"/>
            <a:r>
              <a:rPr lang="en-US" sz="1600" dirty="0"/>
              <a:t>    return 0;</a:t>
            </a:r>
          </a:p>
          <a:p>
            <a:pPr lvl="2"/>
            <a:r>
              <a:rPr lang="en-US" sz="1600" dirty="0"/>
              <a:t>}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780900"/>
              </p:ext>
            </p:extLst>
          </p:nvPr>
        </p:nvGraphicFramePr>
        <p:xfrm>
          <a:off x="6205895" y="758580"/>
          <a:ext cx="5912032" cy="13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016"/>
                <a:gridCol w="2956016"/>
              </a:tblGrid>
              <a:tr h="3376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</a:tr>
              <a:tr h="98074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US" sz="1400" dirty="0" smtClean="0">
                          <a:sym typeface="Wingdings" panose="05000000000000000000" pitchFamily="2" charset="2"/>
                        </a:rPr>
                        <a:t>Values</a:t>
                      </a:r>
                      <a:r>
                        <a:rPr lang="en-US" sz="1400" baseline="0" dirty="0" smtClean="0">
                          <a:sym typeface="Wingdings" panose="05000000000000000000" pitchFamily="2" charset="2"/>
                        </a:rPr>
                        <a:t> that are passed in function call.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US" sz="1400" baseline="0" dirty="0" smtClean="0">
                          <a:sym typeface="Wingdings" panose="05000000000000000000" pitchFamily="2" charset="2"/>
                        </a:rPr>
                        <a:t>Actual parameter.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US" sz="1400" baseline="0" dirty="0" smtClean="0">
                          <a:sym typeface="Wingdings" panose="05000000000000000000" pitchFamily="2" charset="2"/>
                        </a:rPr>
                        <a:t>Used to send value.</a:t>
                      </a:r>
                      <a:endParaRPr lang="en-US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US" sz="1400" dirty="0" smtClean="0">
                          <a:sym typeface="Wingdings" panose="05000000000000000000" pitchFamily="2" charset="2"/>
                        </a:rPr>
                        <a:t>Values in function declaration and definition.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US" sz="1400" dirty="0" smtClean="0">
                          <a:sym typeface="Wingdings" panose="05000000000000000000" pitchFamily="2" charset="2"/>
                        </a:rPr>
                        <a:t>Formal parameter.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è"/>
                      </a:pPr>
                      <a:r>
                        <a:rPr lang="en-US" sz="1400" dirty="0" smtClean="0">
                          <a:sym typeface="Wingdings" panose="05000000000000000000" pitchFamily="2" charset="2"/>
                        </a:rPr>
                        <a:t>Used to receive value.</a:t>
                      </a:r>
                      <a:endParaRPr lang="en-US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cxnSp>
        <p:nvCxnSpPr>
          <p:cNvPr id="40" name="Straight Connector 39"/>
          <p:cNvCxnSpPr/>
          <p:nvPr/>
        </p:nvCxnSpPr>
        <p:spPr>
          <a:xfrm>
            <a:off x="4616531" y="2202694"/>
            <a:ext cx="0" cy="465530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21239" y="2056686"/>
            <a:ext cx="73536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Ex</a:t>
            </a:r>
            <a:r>
              <a:rPr lang="en-US" dirty="0" smtClean="0"/>
              <a:t> : Calculate area of square, circle and rectangle.</a:t>
            </a:r>
          </a:p>
          <a:p>
            <a:pPr lvl="2"/>
            <a:r>
              <a:rPr lang="en-US" sz="1200" dirty="0"/>
              <a:t>#include&lt;</a:t>
            </a:r>
            <a:r>
              <a:rPr lang="en-US" sz="1200" dirty="0" err="1"/>
              <a:t>stdio.h</a:t>
            </a:r>
            <a:r>
              <a:rPr lang="en-US" sz="1200" dirty="0"/>
              <a:t>&gt;</a:t>
            </a:r>
          </a:p>
          <a:p>
            <a:pPr lvl="2"/>
            <a:r>
              <a:rPr lang="en-US" sz="1200" dirty="0"/>
              <a:t>#include&lt;</a:t>
            </a:r>
            <a:r>
              <a:rPr lang="en-US" sz="1200" dirty="0" err="1"/>
              <a:t>math.h</a:t>
            </a:r>
            <a:r>
              <a:rPr lang="en-US" sz="1200" dirty="0"/>
              <a:t>&gt;</a:t>
            </a:r>
          </a:p>
          <a:p>
            <a:pPr lvl="2"/>
            <a:endParaRPr lang="en-US" sz="1200" dirty="0"/>
          </a:p>
          <a:p>
            <a:pPr lvl="2"/>
            <a:r>
              <a:rPr lang="en-US" sz="1200" dirty="0"/>
              <a:t>double </a:t>
            </a:r>
            <a:r>
              <a:rPr lang="en-US" sz="1200" dirty="0" err="1"/>
              <a:t>square_area</a:t>
            </a:r>
            <a:r>
              <a:rPr lang="en-US" sz="1200" dirty="0"/>
              <a:t>(double side){</a:t>
            </a:r>
          </a:p>
          <a:p>
            <a:pPr lvl="2"/>
            <a:r>
              <a:rPr lang="en-US" sz="1200" dirty="0"/>
              <a:t>    return (side*side);</a:t>
            </a:r>
          </a:p>
          <a:p>
            <a:pPr lvl="2"/>
            <a:r>
              <a:rPr lang="en-US" sz="1200" dirty="0"/>
              <a:t>    }</a:t>
            </a:r>
          </a:p>
          <a:p>
            <a:pPr lvl="2"/>
            <a:r>
              <a:rPr lang="en-US" sz="1200" dirty="0"/>
              <a:t>double </a:t>
            </a:r>
            <a:r>
              <a:rPr lang="en-US" sz="1200" dirty="0" err="1"/>
              <a:t>circle_area</a:t>
            </a:r>
            <a:r>
              <a:rPr lang="en-US" sz="1200" dirty="0"/>
              <a:t>(double radius){</a:t>
            </a:r>
          </a:p>
          <a:p>
            <a:pPr lvl="2"/>
            <a:r>
              <a:rPr lang="en-US" sz="1200" dirty="0"/>
              <a:t>    return (3.1416*pow(radius,2));</a:t>
            </a:r>
          </a:p>
          <a:p>
            <a:pPr lvl="2"/>
            <a:r>
              <a:rPr lang="en-US" sz="1200" dirty="0"/>
              <a:t>    }</a:t>
            </a:r>
          </a:p>
          <a:p>
            <a:pPr lvl="2"/>
            <a:r>
              <a:rPr lang="en-US" sz="1200" dirty="0"/>
              <a:t>double </a:t>
            </a:r>
            <a:r>
              <a:rPr lang="en-US" sz="1200" dirty="0" err="1"/>
              <a:t>rectangle_area</a:t>
            </a:r>
            <a:r>
              <a:rPr lang="en-US" sz="1200" dirty="0"/>
              <a:t>(double </a:t>
            </a:r>
            <a:r>
              <a:rPr lang="en-US" sz="1200" dirty="0" err="1"/>
              <a:t>length,double</a:t>
            </a:r>
            <a:r>
              <a:rPr lang="en-US" sz="1200" dirty="0"/>
              <a:t> width){</a:t>
            </a:r>
          </a:p>
          <a:p>
            <a:pPr lvl="2"/>
            <a:r>
              <a:rPr lang="en-US" sz="1200" dirty="0"/>
              <a:t>    return (length*width);</a:t>
            </a:r>
          </a:p>
          <a:p>
            <a:pPr lvl="2"/>
            <a:r>
              <a:rPr lang="en-US" sz="1200" dirty="0"/>
              <a:t>    }</a:t>
            </a:r>
          </a:p>
          <a:p>
            <a:pPr lvl="2"/>
            <a:endParaRPr lang="en-US" sz="1200" dirty="0"/>
          </a:p>
          <a:p>
            <a:pPr lvl="2"/>
            <a:r>
              <a:rPr lang="en-US" sz="1200" dirty="0" err="1"/>
              <a:t>int</a:t>
            </a:r>
            <a:r>
              <a:rPr lang="en-US" sz="1200" dirty="0"/>
              <a:t> main()</a:t>
            </a:r>
          </a:p>
          <a:p>
            <a:pPr lvl="2"/>
            <a:r>
              <a:rPr lang="en-US" sz="1200" dirty="0"/>
              <a:t>{   double </a:t>
            </a:r>
            <a:r>
              <a:rPr lang="en-US" sz="1200" dirty="0" err="1"/>
              <a:t>side,radius,length,width</a:t>
            </a:r>
            <a:r>
              <a:rPr lang="en-US" sz="1200" dirty="0"/>
              <a:t>;</a:t>
            </a:r>
          </a:p>
          <a:p>
            <a:pPr lvl="2"/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("Enter </a:t>
            </a:r>
            <a:r>
              <a:rPr lang="en-US" sz="1200" dirty="0" err="1"/>
              <a:t>side,radius,length,width</a:t>
            </a:r>
            <a:r>
              <a:rPr lang="en-US" sz="1200" dirty="0"/>
              <a:t>(one by one): ");</a:t>
            </a:r>
          </a:p>
          <a:p>
            <a:pPr lvl="2"/>
            <a:r>
              <a:rPr lang="en-US" sz="1200" dirty="0"/>
              <a:t>    scanf("%</a:t>
            </a:r>
            <a:r>
              <a:rPr lang="en-US" sz="1200" dirty="0" err="1"/>
              <a:t>lf%lf%lf%lf</a:t>
            </a:r>
            <a:r>
              <a:rPr lang="en-US" sz="1200" dirty="0"/>
              <a:t>", &amp;</a:t>
            </a:r>
            <a:r>
              <a:rPr lang="en-US" sz="1200" dirty="0" err="1"/>
              <a:t>side,&amp;radius,&amp;length,&amp;width</a:t>
            </a:r>
            <a:r>
              <a:rPr lang="en-US" sz="1200" dirty="0"/>
              <a:t>);</a:t>
            </a:r>
          </a:p>
          <a:p>
            <a:pPr lvl="2"/>
            <a:endParaRPr lang="en-US" sz="1200" dirty="0"/>
          </a:p>
          <a:p>
            <a:pPr lvl="2"/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("Area of square: %.2lf\n",</a:t>
            </a:r>
            <a:r>
              <a:rPr lang="en-US" sz="1200" dirty="0" err="1"/>
              <a:t>square_area</a:t>
            </a:r>
            <a:r>
              <a:rPr lang="en-US" sz="1200" dirty="0"/>
              <a:t>(side));</a:t>
            </a:r>
          </a:p>
          <a:p>
            <a:pPr lvl="2"/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("Area of circle: %.2lf\n",</a:t>
            </a:r>
            <a:r>
              <a:rPr lang="en-US" sz="1200" dirty="0" err="1"/>
              <a:t>circle_area</a:t>
            </a:r>
            <a:r>
              <a:rPr lang="en-US" sz="1200" dirty="0"/>
              <a:t>(radius));</a:t>
            </a:r>
          </a:p>
          <a:p>
            <a:pPr lvl="2"/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("Area of square: %.2lf\n",</a:t>
            </a:r>
            <a:r>
              <a:rPr lang="en-US" sz="1200" dirty="0" err="1"/>
              <a:t>rectangle_area</a:t>
            </a:r>
            <a:r>
              <a:rPr lang="en-US" sz="1200" dirty="0"/>
              <a:t>(</a:t>
            </a:r>
            <a:r>
              <a:rPr lang="en-US" sz="1200" dirty="0" err="1"/>
              <a:t>length,width</a:t>
            </a:r>
            <a:r>
              <a:rPr lang="en-US" sz="1200" dirty="0"/>
              <a:t>));</a:t>
            </a:r>
          </a:p>
          <a:p>
            <a:pPr lvl="2"/>
            <a:endParaRPr lang="en-US" sz="1200" dirty="0"/>
          </a:p>
          <a:p>
            <a:pPr lvl="2"/>
            <a:r>
              <a:rPr lang="en-US" sz="1200" dirty="0"/>
              <a:t>    return 0;</a:t>
            </a:r>
          </a:p>
          <a:p>
            <a:pPr lvl="2"/>
            <a:r>
              <a:rPr lang="en-US" sz="1200" dirty="0"/>
              <a:t>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4416" y="2790841"/>
            <a:ext cx="2350474" cy="14222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>
                <a:solidFill>
                  <a:schemeClr val="tx1"/>
                </a:solidFill>
              </a:rPr>
              <a:t>Note</a:t>
            </a:r>
            <a:r>
              <a:rPr lang="en-US" dirty="0" smtClean="0">
                <a:solidFill>
                  <a:schemeClr val="tx1"/>
                </a:solidFill>
              </a:rPr>
              <a:t>: (%.2lf) is used to present 2 value after (.)</a:t>
            </a:r>
            <a:r>
              <a:rPr lang="en-US" dirty="0" smtClean="0">
                <a:solidFill>
                  <a:schemeClr val="tx1"/>
                </a:solidFill>
                <a:sym typeface="Wingdings" panose="05000000000000000000" pitchFamily="2" charset="2"/>
              </a:rPr>
              <a:t>24.56</a:t>
            </a:r>
          </a:p>
          <a:p>
            <a:r>
              <a:rPr lang="en-US" dirty="0" smtClean="0">
                <a:solidFill>
                  <a:schemeClr val="tx1"/>
                </a:solidFill>
                <a:sym typeface="Wingdings" panose="05000000000000000000" pitchFamily="2" charset="2"/>
              </a:rPr>
              <a:t>Also can be (%.3lf)24.566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003" y="162369"/>
            <a:ext cx="4147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Recursion</a:t>
            </a:r>
            <a:r>
              <a:rPr lang="en-US" dirty="0" smtClean="0"/>
              <a:t> : (When a function call itself)</a:t>
            </a:r>
            <a:endParaRPr lang="en-US" dirty="0"/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>
            <a:off x="4241164" y="347035"/>
            <a:ext cx="36501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606183" y="162369"/>
            <a:ext cx="1578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 is like a loop.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7648" y="531701"/>
            <a:ext cx="561525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Ex</a:t>
            </a:r>
            <a:r>
              <a:rPr lang="en-US" dirty="0"/>
              <a:t> : </a:t>
            </a:r>
            <a:r>
              <a:rPr lang="en-US" dirty="0" smtClean="0"/>
              <a:t>	</a:t>
            </a:r>
            <a:r>
              <a:rPr lang="en-US" sz="1400" dirty="0" smtClean="0"/>
              <a:t>#</a:t>
            </a:r>
            <a:r>
              <a:rPr lang="en-US" sz="1400" dirty="0"/>
              <a:t>include&lt;</a:t>
            </a:r>
            <a:r>
              <a:rPr lang="en-US" sz="1400" dirty="0" err="1"/>
              <a:t>stdio.h</a:t>
            </a:r>
            <a:r>
              <a:rPr lang="en-US" sz="1400" dirty="0"/>
              <a:t>&gt;</a:t>
            </a:r>
          </a:p>
          <a:p>
            <a:pPr lvl="1"/>
            <a:endParaRPr lang="en-US" sz="1400" dirty="0"/>
          </a:p>
          <a:p>
            <a:pPr lvl="2"/>
            <a:r>
              <a:rPr lang="en-US" sz="1400" dirty="0"/>
              <a:t>void </a:t>
            </a:r>
            <a:r>
              <a:rPr lang="en-US" sz="1400" dirty="0" err="1"/>
              <a:t>print_name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count){</a:t>
            </a:r>
          </a:p>
          <a:p>
            <a:pPr lvl="2"/>
            <a:r>
              <a:rPr lang="en-US" sz="1400" dirty="0"/>
              <a:t>    if(count==0)</a:t>
            </a:r>
          </a:p>
          <a:p>
            <a:pPr lvl="2"/>
            <a:r>
              <a:rPr lang="en-US" sz="1400" dirty="0"/>
              <a:t>        return;</a:t>
            </a:r>
          </a:p>
          <a:p>
            <a:pPr lvl="2"/>
            <a:r>
              <a:rPr lang="en-US" sz="1400" dirty="0"/>
              <a:t>    </a:t>
            </a:r>
            <a:r>
              <a:rPr lang="en-US" sz="1400" dirty="0" err="1"/>
              <a:t>printf</a:t>
            </a:r>
            <a:r>
              <a:rPr lang="en-US" sz="1400" dirty="0"/>
              <a:t>("SJTA\n");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    </a:t>
            </a:r>
            <a:r>
              <a:rPr lang="en-US" sz="1400" dirty="0" err="1"/>
              <a:t>print_name</a:t>
            </a:r>
            <a:r>
              <a:rPr lang="en-US" sz="1400" dirty="0"/>
              <a:t>(count-1);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    }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 err="1"/>
              <a:t>int</a:t>
            </a:r>
            <a:r>
              <a:rPr lang="en-US" sz="1400" dirty="0"/>
              <a:t> main()</a:t>
            </a:r>
          </a:p>
          <a:p>
            <a:pPr lvl="2"/>
            <a:r>
              <a:rPr lang="en-US" sz="1400" dirty="0"/>
              <a:t>{   </a:t>
            </a:r>
            <a:r>
              <a:rPr lang="en-US" sz="1400" dirty="0" err="1"/>
              <a:t>int</a:t>
            </a:r>
            <a:r>
              <a:rPr lang="en-US" sz="1400" dirty="0"/>
              <a:t> n;</a:t>
            </a:r>
          </a:p>
          <a:p>
            <a:pPr lvl="2"/>
            <a:r>
              <a:rPr lang="en-US" sz="1400" dirty="0"/>
              <a:t>    </a:t>
            </a:r>
            <a:r>
              <a:rPr lang="en-US" sz="1400" dirty="0" err="1"/>
              <a:t>printf</a:t>
            </a:r>
            <a:r>
              <a:rPr lang="en-US" sz="1400" dirty="0"/>
              <a:t>("Enter the number of times you want to print SJTA:");</a:t>
            </a:r>
          </a:p>
          <a:p>
            <a:pPr lvl="2"/>
            <a:r>
              <a:rPr lang="en-US" sz="1400" dirty="0"/>
              <a:t>    scanf("%</a:t>
            </a:r>
            <a:r>
              <a:rPr lang="en-US" sz="1400" dirty="0" err="1"/>
              <a:t>d",&amp;n</a:t>
            </a:r>
            <a:r>
              <a:rPr lang="en-US" sz="1400" dirty="0"/>
              <a:t>);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    </a:t>
            </a:r>
            <a:r>
              <a:rPr lang="en-US" sz="1400" dirty="0" err="1"/>
              <a:t>print_name</a:t>
            </a:r>
            <a:r>
              <a:rPr lang="en-US" sz="1400" dirty="0"/>
              <a:t>(n);</a:t>
            </a:r>
          </a:p>
          <a:p>
            <a:pPr lvl="2"/>
            <a:endParaRPr lang="en-US" sz="1400" dirty="0"/>
          </a:p>
          <a:p>
            <a:pPr lvl="2"/>
            <a:r>
              <a:rPr lang="en-US" sz="1400" dirty="0"/>
              <a:t>    return 0;</a:t>
            </a:r>
          </a:p>
          <a:p>
            <a:pPr lvl="2"/>
            <a:r>
              <a:rPr lang="en-US" sz="1400" dirty="0"/>
              <a:t>}</a:t>
            </a:r>
          </a:p>
        </p:txBody>
      </p:sp>
      <p:sp>
        <p:nvSpPr>
          <p:cNvPr id="7" name="Left Brace 6"/>
          <p:cNvSpPr/>
          <p:nvPr/>
        </p:nvSpPr>
        <p:spPr>
          <a:xfrm>
            <a:off x="1204957" y="1196412"/>
            <a:ext cx="94004" cy="1469876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957129" y="1931350"/>
            <a:ext cx="24782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3643" y="1850164"/>
            <a:ext cx="743485" cy="320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bg2"/>
                </a:solidFill>
              </a:rPr>
              <a:t>Recursive function</a:t>
            </a:r>
            <a:endParaRPr lang="en-US" sz="1100" dirty="0">
              <a:solidFill>
                <a:schemeClr val="bg2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89660" y="2256090"/>
            <a:ext cx="880218" cy="24782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002" y="2526213"/>
            <a:ext cx="849421" cy="10373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smtClean="0"/>
              <a:t>Calling itself(will call again and again until count is 0)</a:t>
            </a:r>
            <a:endParaRPr lang="en-US" sz="11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922903" y="531701"/>
            <a:ext cx="0" cy="43022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36548" y="68366"/>
            <a:ext cx="49968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/>
              <a:t>I</a:t>
            </a:r>
            <a:r>
              <a:rPr lang="en-US" b="1" u="sng" dirty="0" smtClean="0"/>
              <a:t>n math</a:t>
            </a:r>
            <a:r>
              <a:rPr lang="en-US" dirty="0" smtClean="0"/>
              <a:t>:</a:t>
            </a:r>
          </a:p>
          <a:p>
            <a:r>
              <a:rPr lang="en-US" dirty="0"/>
              <a:t>	</a:t>
            </a:r>
            <a:r>
              <a:rPr lang="en-US" dirty="0" smtClean="0"/>
              <a:t> f(X)=X^3=X×X×X</a:t>
            </a:r>
          </a:p>
          <a:p>
            <a:r>
              <a:rPr lang="en-US" dirty="0" smtClean="0"/>
              <a:t>(sample</a:t>
            </a:r>
            <a:r>
              <a:rPr lang="en-US" dirty="0"/>
              <a:t>	</a:t>
            </a:r>
            <a:r>
              <a:rPr lang="en-US" dirty="0" smtClean="0"/>
              <a:t> let X=2;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    of</a:t>
            </a: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smtClean="0">
                <a:sym typeface="Wingdings" panose="05000000000000000000" pitchFamily="2" charset="2"/>
              </a:rPr>
              <a:t> □ f( f( f(X) ) )=f( f( f(2) ) )=f( f( 8 ) )=f( 512)</a:t>
            </a:r>
          </a:p>
          <a:p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dirty="0" smtClean="0">
                <a:sym typeface="Wingdings" panose="05000000000000000000" pitchFamily="2" charset="2"/>
              </a:rPr>
              <a:t>ecursion)</a:t>
            </a: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smtClean="0">
                <a:sym typeface="Wingdings" panose="05000000000000000000" pitchFamily="2" charset="2"/>
              </a:rPr>
              <a:t>=134,217,728.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16908" y="1418901"/>
            <a:ext cx="4838184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 smtClean="0"/>
              <a:t>Sum of n natural numbers</a:t>
            </a:r>
            <a:r>
              <a:rPr lang="en-US" dirty="0" smtClean="0"/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 smtClean="0">
                <a:sym typeface="Wingdings" panose="05000000000000000000" pitchFamily="2" charset="2"/>
              </a:rPr>
              <a:t>1  1 = sum(1)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2  1+2 = sum(1)+2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3  1+2+3 = sum(2)+3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4  1+2+3+4 = sum(3)+4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--------------------------------------	(formula)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 n  0+1+2+3+_ _ _ _ _+(n-1)+n = sum(n-1)+n</a:t>
            </a:r>
          </a:p>
          <a:p>
            <a:r>
              <a:rPr lang="en-US" dirty="0">
                <a:sym typeface="Wingdings" panose="05000000000000000000" pitchFamily="2" charset="2"/>
              </a:rPr>
              <a:t>Code </a:t>
            </a:r>
            <a:r>
              <a:rPr lang="en-US" sz="1200" dirty="0" smtClean="0">
                <a:sym typeface="Wingdings" panose="05000000000000000000" pitchFamily="2" charset="2"/>
              </a:rPr>
              <a:t>:	</a:t>
            </a:r>
            <a:r>
              <a:rPr lang="en-US" sz="1300" dirty="0" smtClean="0">
                <a:sym typeface="Wingdings" panose="05000000000000000000" pitchFamily="2" charset="2"/>
              </a:rPr>
              <a:t>#</a:t>
            </a:r>
            <a:r>
              <a:rPr lang="en-US" sz="1300" dirty="0">
                <a:sym typeface="Wingdings" panose="05000000000000000000" pitchFamily="2" charset="2"/>
              </a:rPr>
              <a:t>include&lt;</a:t>
            </a:r>
            <a:r>
              <a:rPr lang="en-US" sz="1300" dirty="0" err="1">
                <a:sym typeface="Wingdings" panose="05000000000000000000" pitchFamily="2" charset="2"/>
              </a:rPr>
              <a:t>stdio.h</a:t>
            </a:r>
            <a:r>
              <a:rPr lang="en-US" sz="1300" dirty="0" smtClean="0">
                <a:sym typeface="Wingdings" panose="05000000000000000000" pitchFamily="2" charset="2"/>
              </a:rPr>
              <a:t>&gt;</a:t>
            </a:r>
            <a:endParaRPr lang="en-US" sz="1300" dirty="0">
              <a:sym typeface="Wingdings" panose="05000000000000000000" pitchFamily="2" charset="2"/>
            </a:endParaRPr>
          </a:p>
          <a:p>
            <a:pPr lvl="2"/>
            <a:r>
              <a:rPr lang="en-US" sz="1300" dirty="0" err="1">
                <a:sym typeface="Wingdings" panose="05000000000000000000" pitchFamily="2" charset="2"/>
              </a:rPr>
              <a:t>int</a:t>
            </a:r>
            <a:r>
              <a:rPr lang="en-US" sz="1300" dirty="0">
                <a:sym typeface="Wingdings" panose="05000000000000000000" pitchFamily="2" charset="2"/>
              </a:rPr>
              <a:t> sum(</a:t>
            </a:r>
            <a:r>
              <a:rPr lang="en-US" sz="1300" dirty="0" err="1">
                <a:sym typeface="Wingdings" panose="05000000000000000000" pitchFamily="2" charset="2"/>
              </a:rPr>
              <a:t>int</a:t>
            </a:r>
            <a:r>
              <a:rPr lang="en-US" sz="1300" dirty="0">
                <a:sym typeface="Wingdings" panose="05000000000000000000" pitchFamily="2" charset="2"/>
              </a:rPr>
              <a:t> n){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if(n==1)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    return 1;</a:t>
            </a:r>
          </a:p>
          <a:p>
            <a:pPr lvl="2"/>
            <a:r>
              <a:rPr lang="en-US" sz="1300" dirty="0" smtClean="0">
                <a:sym typeface="Wingdings" panose="05000000000000000000" pitchFamily="2" charset="2"/>
              </a:rPr>
              <a:t>    </a:t>
            </a:r>
            <a:endParaRPr lang="en-US" sz="1300" dirty="0">
              <a:sym typeface="Wingdings" panose="05000000000000000000" pitchFamily="2" charset="2"/>
            </a:endParaRP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</a:t>
            </a:r>
            <a:r>
              <a:rPr lang="en-US" sz="1300" dirty="0" err="1">
                <a:sym typeface="Wingdings" panose="05000000000000000000" pitchFamily="2" charset="2"/>
              </a:rPr>
              <a:t>int</a:t>
            </a:r>
            <a:r>
              <a:rPr lang="en-US" sz="1300" dirty="0">
                <a:sym typeface="Wingdings" panose="05000000000000000000" pitchFamily="2" charset="2"/>
              </a:rPr>
              <a:t> sum1= sum(n-1);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</a:t>
            </a:r>
            <a:r>
              <a:rPr lang="en-US" sz="1300" dirty="0" err="1">
                <a:sym typeface="Wingdings" panose="05000000000000000000" pitchFamily="2" charset="2"/>
              </a:rPr>
              <a:t>int</a:t>
            </a:r>
            <a:r>
              <a:rPr lang="en-US" sz="1300" dirty="0">
                <a:sym typeface="Wingdings" panose="05000000000000000000" pitchFamily="2" charset="2"/>
              </a:rPr>
              <a:t> sum= sum1 + n;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return sum;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}</a:t>
            </a:r>
          </a:p>
          <a:p>
            <a:pPr lvl="2"/>
            <a:r>
              <a:rPr lang="en-US" sz="1300" dirty="0" err="1">
                <a:sym typeface="Wingdings" panose="05000000000000000000" pitchFamily="2" charset="2"/>
              </a:rPr>
              <a:t>int</a:t>
            </a:r>
            <a:r>
              <a:rPr lang="en-US" sz="1300" dirty="0">
                <a:sym typeface="Wingdings" panose="05000000000000000000" pitchFamily="2" charset="2"/>
              </a:rPr>
              <a:t> main(){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</a:t>
            </a:r>
            <a:r>
              <a:rPr lang="en-US" sz="1300" dirty="0" err="1">
                <a:sym typeface="Wingdings" panose="05000000000000000000" pitchFamily="2" charset="2"/>
              </a:rPr>
              <a:t>int</a:t>
            </a:r>
            <a:r>
              <a:rPr lang="en-US" sz="1300" dirty="0">
                <a:sym typeface="Wingdings" panose="05000000000000000000" pitchFamily="2" charset="2"/>
              </a:rPr>
              <a:t> n;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</a:t>
            </a:r>
            <a:r>
              <a:rPr lang="en-US" sz="1300" dirty="0" err="1">
                <a:sym typeface="Wingdings" panose="05000000000000000000" pitchFamily="2" charset="2"/>
              </a:rPr>
              <a:t>printf</a:t>
            </a:r>
            <a:r>
              <a:rPr lang="en-US" sz="1300" dirty="0">
                <a:sym typeface="Wingdings" panose="05000000000000000000" pitchFamily="2" charset="2"/>
              </a:rPr>
              <a:t>("Enter the number:");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scanf("%</a:t>
            </a:r>
            <a:r>
              <a:rPr lang="en-US" sz="1300" dirty="0" err="1">
                <a:sym typeface="Wingdings" panose="05000000000000000000" pitchFamily="2" charset="2"/>
              </a:rPr>
              <a:t>d",&amp;n</a:t>
            </a:r>
            <a:r>
              <a:rPr lang="en-US" sz="1300" dirty="0" smtClean="0">
                <a:sym typeface="Wingdings" panose="05000000000000000000" pitchFamily="2" charset="2"/>
              </a:rPr>
              <a:t>);</a:t>
            </a:r>
          </a:p>
          <a:p>
            <a:pPr lvl="2"/>
            <a:endParaRPr lang="en-US" sz="1300" dirty="0">
              <a:sym typeface="Wingdings" panose="05000000000000000000" pitchFamily="2" charset="2"/>
            </a:endParaRP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</a:t>
            </a:r>
            <a:r>
              <a:rPr lang="en-US" sz="1300" dirty="0" err="1">
                <a:sym typeface="Wingdings" panose="05000000000000000000" pitchFamily="2" charset="2"/>
              </a:rPr>
              <a:t>printf</a:t>
            </a:r>
            <a:r>
              <a:rPr lang="en-US" sz="1300" dirty="0">
                <a:sym typeface="Wingdings" panose="05000000000000000000" pitchFamily="2" charset="2"/>
              </a:rPr>
              <a:t>("Sum is %d\</a:t>
            </a:r>
            <a:r>
              <a:rPr lang="en-US" sz="1300" dirty="0" err="1">
                <a:sym typeface="Wingdings" panose="05000000000000000000" pitchFamily="2" charset="2"/>
              </a:rPr>
              <a:t>n",sum</a:t>
            </a:r>
            <a:r>
              <a:rPr lang="en-US" sz="1300" dirty="0">
                <a:sym typeface="Wingdings" panose="05000000000000000000" pitchFamily="2" charset="2"/>
              </a:rPr>
              <a:t>(n));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    return 0;</a:t>
            </a:r>
          </a:p>
          <a:p>
            <a:pPr lvl="2"/>
            <a:r>
              <a:rPr lang="en-US" sz="1300" dirty="0">
                <a:sym typeface="Wingdings" panose="05000000000000000000" pitchFamily="2" charset="2"/>
              </a:rPr>
              <a:t>}</a:t>
            </a:r>
            <a:endParaRPr lang="en-US" sz="1300" dirty="0"/>
          </a:p>
        </p:txBody>
      </p:sp>
      <p:sp>
        <p:nvSpPr>
          <p:cNvPr id="15" name="Rectangle 14"/>
          <p:cNvSpPr/>
          <p:nvPr/>
        </p:nvSpPr>
        <p:spPr>
          <a:xfrm>
            <a:off x="9614019" y="3104725"/>
            <a:ext cx="1136591" cy="3076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999006" y="1743342"/>
            <a:ext cx="675117" cy="2820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7674123" y="1880630"/>
            <a:ext cx="5127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167820" y="1822289"/>
            <a:ext cx="694168" cy="11668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Base case</a:t>
            </a:r>
            <a:endParaRPr lang="en-US" sz="1000" dirty="0"/>
          </a:p>
        </p:txBody>
      </p:sp>
      <p:sp>
        <p:nvSpPr>
          <p:cNvPr id="22" name="Arc 21"/>
          <p:cNvSpPr/>
          <p:nvPr/>
        </p:nvSpPr>
        <p:spPr>
          <a:xfrm rot="17239626">
            <a:off x="6764899" y="1670764"/>
            <a:ext cx="486398" cy="536414"/>
          </a:xfrm>
          <a:prstGeom prst="arc">
            <a:avLst>
              <a:gd name="adj1" fmla="val 16166079"/>
              <a:gd name="adj2" fmla="val 2055441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2" idx="2"/>
          </p:cNvCxnSpPr>
          <p:nvPr/>
        </p:nvCxnSpPr>
        <p:spPr>
          <a:xfrm>
            <a:off x="7007673" y="1693810"/>
            <a:ext cx="1974402" cy="4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982074" y="1626929"/>
            <a:ext cx="731045" cy="11641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/>
              <a:t>Base value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307648" y="5016756"/>
            <a:ext cx="5059112" cy="15895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chemeClr val="tx1"/>
                </a:solidFill>
              </a:rPr>
              <a:t>Base case is the condition which stops recursion.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>
                <a:solidFill>
                  <a:schemeClr val="tx1"/>
                </a:solidFill>
              </a:rPr>
              <a:t>Iteration(loop) has infinite loop &amp; recursion has stack overflow.(if base condition is absent or not acceptable the program will crash)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970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0916" y="222439"/>
            <a:ext cx="1189191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 smtClean="0"/>
              <a:t>Factorial of n natural numbers.</a:t>
            </a:r>
            <a:r>
              <a:rPr lang="en-US" dirty="0" smtClean="0"/>
              <a:t>  </a:t>
            </a:r>
          </a:p>
          <a:p>
            <a:r>
              <a:rPr lang="en-US" dirty="0"/>
              <a:t>	</a:t>
            </a:r>
            <a:r>
              <a:rPr lang="en-US" dirty="0" smtClean="0">
                <a:sym typeface="Wingdings" panose="05000000000000000000" pitchFamily="2" charset="2"/>
              </a:rPr>
              <a:t></a:t>
            </a:r>
            <a:r>
              <a:rPr lang="en-US" dirty="0" smtClean="0"/>
              <a:t>5! =1*2*3*4*5</a:t>
            </a:r>
          </a:p>
          <a:p>
            <a:r>
              <a:rPr lang="en-US" dirty="0"/>
              <a:t> </a:t>
            </a:r>
            <a:r>
              <a:rPr lang="en-US" dirty="0" smtClean="0"/>
              <a:t>       1! = 1 </a:t>
            </a:r>
            <a:r>
              <a:rPr lang="en-US" dirty="0" smtClean="0">
                <a:sym typeface="Wingdings" panose="05000000000000000000" pitchFamily="2" charset="2"/>
              </a:rPr>
              <a:t> factorial(1)	Also we know, 0!=1.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2! = 1*2  factorial(1)*2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3! = 1*2*3  factorial(2)*3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----------------------------------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(n-1)! = (n-1)*(n-2)!  factorial(n-2)*(n-1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        n! = n*(n-1)! factorial(n-1)*n  formula.(when n&gt;1). So, base case((n==1)(n==0))n!=1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 smtClean="0">
                <a:sym typeface="Wingdings" panose="05000000000000000000" pitchFamily="2" charset="2"/>
              </a:rPr>
              <a:t>Fibonacci sequence </a:t>
            </a:r>
            <a:r>
              <a:rPr lang="en-US" dirty="0" smtClean="0">
                <a:sym typeface="Wingdings" panose="05000000000000000000" pitchFamily="2" charset="2"/>
              </a:rPr>
              <a:t>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0 , 1 , 1 , 2 , 3 , 5 , 8 , 13 , 21 , 34 , 55 , 89 , 144,……………….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</a:t>
            </a:r>
            <a:r>
              <a:rPr lang="en-US" dirty="0" smtClean="0">
                <a:sym typeface="Wingdings" panose="05000000000000000000" pitchFamily="2" charset="2"/>
              </a:rPr>
              <a:t>1 to n</a:t>
            </a:r>
            <a:r>
              <a:rPr lang="en-US" sz="800" dirty="0" smtClean="0">
                <a:sym typeface="Wingdings" panose="05000000000000000000" pitchFamily="2" charset="2"/>
              </a:rPr>
              <a:t>th</a:t>
            </a:r>
            <a:r>
              <a:rPr lang="en-US" dirty="0" smtClean="0">
                <a:sym typeface="Wingdings" panose="05000000000000000000" pitchFamily="2" charset="2"/>
              </a:rPr>
              <a:t> Fibonacci sequence = </a:t>
            </a:r>
            <a:r>
              <a:rPr lang="en-US" dirty="0" smtClean="0">
                <a:sym typeface="Wingdings" panose="05000000000000000000" pitchFamily="2" charset="2"/>
              </a:rPr>
              <a:t>fib(n-1) + fib(n-2</a:t>
            </a:r>
            <a:r>
              <a:rPr lang="en-US" dirty="0" smtClean="0">
                <a:sym typeface="Wingdings" panose="05000000000000000000" pitchFamily="2" charset="2"/>
              </a:rPr>
              <a:t>) </a:t>
            </a:r>
            <a:r>
              <a:rPr lang="en-US" dirty="0" smtClean="0">
                <a:sym typeface="Wingdings" panose="05000000000000000000" pitchFamily="2" charset="2"/>
              </a:rPr>
              <a:t> Here, fib(n-1)= fib(n-2) + fib(n-3), means 1 to (n-1)</a:t>
            </a:r>
            <a:r>
              <a:rPr lang="en-US" sz="1050" dirty="0" err="1" smtClean="0">
                <a:sym typeface="Wingdings" panose="05000000000000000000" pitchFamily="2" charset="2"/>
              </a:rPr>
              <a:t>th</a:t>
            </a:r>
            <a:r>
              <a:rPr lang="en-US" dirty="0">
                <a:sym typeface="Wingdings" panose="05000000000000000000" pitchFamily="2" charset="2"/>
              </a:rPr>
              <a:t> Fibonacci </a:t>
            </a:r>
            <a:r>
              <a:rPr lang="en-US" dirty="0" smtClean="0">
                <a:sym typeface="Wingdings" panose="05000000000000000000" pitchFamily="2" charset="2"/>
              </a:rPr>
              <a:t>sequence.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And fib(n-2) follows same way. The base case for this program is  if(n==0) return 0; if(n==1) return 1;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8472" y="2193332"/>
            <a:ext cx="3067940" cy="2734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88314" y="2195046"/>
            <a:ext cx="3255946" cy="2734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 rot="5400000">
            <a:off x="621075" y="3673960"/>
            <a:ext cx="125176" cy="299103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>
            <a:off x="683663" y="3886100"/>
            <a:ext cx="0" cy="2787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0647" y="4164847"/>
            <a:ext cx="521294" cy="19655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0+1=1</a:t>
            </a:r>
            <a:endParaRPr lang="en-US" sz="1050" dirty="0"/>
          </a:p>
        </p:txBody>
      </p:sp>
      <p:sp>
        <p:nvSpPr>
          <p:cNvPr id="10" name="Right Brace 9"/>
          <p:cNvSpPr/>
          <p:nvPr/>
        </p:nvSpPr>
        <p:spPr>
          <a:xfrm rot="5400000">
            <a:off x="1193643" y="3673961"/>
            <a:ext cx="125176" cy="299103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10" idx="1"/>
          </p:cNvCxnSpPr>
          <p:nvPr/>
        </p:nvCxnSpPr>
        <p:spPr>
          <a:xfrm>
            <a:off x="1256231" y="3886101"/>
            <a:ext cx="0" cy="2787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46032" y="4164847"/>
            <a:ext cx="521294" cy="19655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1+2=3</a:t>
            </a:r>
            <a:endParaRPr lang="en-US" sz="1050" dirty="0"/>
          </a:p>
        </p:txBody>
      </p:sp>
      <p:sp>
        <p:nvSpPr>
          <p:cNvPr id="13" name="Right Brace 12"/>
          <p:cNvSpPr/>
          <p:nvPr/>
        </p:nvSpPr>
        <p:spPr>
          <a:xfrm rot="16200000">
            <a:off x="934629" y="3418965"/>
            <a:ext cx="113366" cy="299103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91311" y="3221275"/>
            <a:ext cx="1" cy="2434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81941" y="3043264"/>
            <a:ext cx="521294" cy="1780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1+1=2</a:t>
            </a:r>
            <a:endParaRPr lang="en-US" sz="1050" dirty="0"/>
          </a:p>
        </p:txBody>
      </p:sp>
      <p:sp>
        <p:nvSpPr>
          <p:cNvPr id="19" name="Rectangle 18"/>
          <p:cNvSpPr/>
          <p:nvPr/>
        </p:nvSpPr>
        <p:spPr>
          <a:xfrm>
            <a:off x="498475" y="4640147"/>
            <a:ext cx="4402540" cy="307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768003" y="4947797"/>
            <a:ext cx="3333125" cy="2734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73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374" y="393107"/>
            <a:ext cx="7247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 smtClean="0">
                <a:solidFill>
                  <a:srgbClr val="FF0000"/>
                </a:solidFill>
              </a:rPr>
              <a:t>Pointers</a:t>
            </a:r>
            <a:r>
              <a:rPr lang="en-US" dirty="0" smtClean="0"/>
              <a:t> : A variable that stores the memory address of another variable.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66629" y="1025496"/>
            <a:ext cx="10665152" cy="135022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Memory 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3303" y="1401501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Age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19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77049" y="1401502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Ptr</a:t>
            </a:r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2151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258" y="1401508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98508" y="1401509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93280" y="1401506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Pptr</a:t>
            </a:r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2151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644355" y="1401507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_age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19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613590" y="1401508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70008" y="1401508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ptr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2149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785787" y="1401503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732234" y="1401504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836848" y="1401503"/>
            <a:ext cx="811850" cy="8631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Gender</a:t>
            </a:r>
          </a:p>
          <a:p>
            <a:pPr algn="ctr"/>
            <a:endParaRPr lang="en-US" sz="1600" dirty="0" smtClean="0"/>
          </a:p>
          <a:p>
            <a:pPr algn="ctr"/>
            <a:r>
              <a:rPr lang="en-US" dirty="0"/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629" y="2478280"/>
            <a:ext cx="1066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2149	     2150	      2151	      2152  	       2153	        2154	        2155	          2156         2157           2158         2159 </a:t>
            </a: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68367" y="2436288"/>
            <a:ext cx="999858" cy="4049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 smtClean="0"/>
              <a:t>Address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196553" y="3161944"/>
            <a:ext cx="25231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 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Age = 19;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*</a:t>
            </a:r>
            <a:r>
              <a:rPr lang="en-US" dirty="0" err="1" smtClean="0">
                <a:sym typeface="Wingdings" panose="05000000000000000000" pitchFamily="2" charset="2"/>
              </a:rPr>
              <a:t>ptr</a:t>
            </a:r>
            <a:r>
              <a:rPr lang="en-US" dirty="0" smtClean="0">
                <a:sym typeface="Wingdings" panose="05000000000000000000" pitchFamily="2" charset="2"/>
              </a:rPr>
              <a:t> = &amp;Age;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smtClean="0">
                <a:sym typeface="Wingdings" panose="05000000000000000000" pitchFamily="2" charset="2"/>
              </a:rPr>
              <a:t> char Gender = ‘M’;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char *</a:t>
            </a:r>
            <a:r>
              <a:rPr lang="en-US" dirty="0" err="1" smtClean="0">
                <a:sym typeface="Wingdings" panose="05000000000000000000" pitchFamily="2" charset="2"/>
              </a:rPr>
              <a:t>Ptr</a:t>
            </a:r>
            <a:r>
              <a:rPr lang="en-US" dirty="0" smtClean="0">
                <a:sym typeface="Wingdings" panose="05000000000000000000" pitchFamily="2" charset="2"/>
              </a:rPr>
              <a:t> = &amp;Gender;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_age = *</a:t>
            </a:r>
            <a:r>
              <a:rPr lang="en-US" dirty="0" err="1" smtClean="0">
                <a:sym typeface="Wingdings" panose="05000000000000000000" pitchFamily="2" charset="2"/>
              </a:rPr>
              <a:t>ptr</a:t>
            </a:r>
            <a:r>
              <a:rPr lang="en-US" dirty="0" smtClean="0">
                <a:sym typeface="Wingdings" panose="05000000000000000000" pitchFamily="2" charset="2"/>
              </a:rPr>
              <a:t>;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r>
              <a:rPr lang="en-US" dirty="0" smtClean="0">
                <a:sym typeface="Wingdings" panose="05000000000000000000" pitchFamily="2" charset="2"/>
              </a:rPr>
              <a:t> **</a:t>
            </a:r>
            <a:r>
              <a:rPr lang="en-US" dirty="0" err="1" smtClean="0">
                <a:sym typeface="Wingdings" panose="05000000000000000000" pitchFamily="2" charset="2"/>
              </a:rPr>
              <a:t>Pptr</a:t>
            </a:r>
            <a:r>
              <a:rPr lang="en-US" dirty="0" smtClean="0">
                <a:sym typeface="Wingdings" panose="05000000000000000000" pitchFamily="2" charset="2"/>
              </a:rPr>
              <a:t> = &amp;</a:t>
            </a:r>
            <a:r>
              <a:rPr lang="en-US" dirty="0" err="1" smtClean="0">
                <a:sym typeface="Wingdings" panose="05000000000000000000" pitchFamily="2" charset="2"/>
              </a:rPr>
              <a:t>Ptr</a:t>
            </a:r>
            <a:r>
              <a:rPr lang="en-US" dirty="0" smtClean="0">
                <a:sym typeface="Wingdings" panose="05000000000000000000" pitchFamily="2" charset="2"/>
              </a:rPr>
              <a:t>;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48299" y="3247402"/>
            <a:ext cx="81068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(*) </a:t>
            </a:r>
            <a:r>
              <a:rPr lang="en-US" dirty="0" smtClean="0">
                <a:sym typeface="Wingdings" panose="05000000000000000000" pitchFamily="2" charset="2"/>
              </a:rPr>
              <a:t> Value of address operator.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ym typeface="Wingdings" panose="05000000000000000000" pitchFamily="2" charset="2"/>
              </a:rPr>
              <a:t>(&amp;)  Address of operator.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Format specifier: %p  hexadecimal form. %u  unsigned form/normal form.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ym typeface="Wingdings" panose="05000000000000000000" pitchFamily="2" charset="2"/>
              </a:rPr>
              <a:t>Pointer to pointer : A variable that stores the memory address of another pointer.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</a:t>
            </a:r>
            <a:r>
              <a:rPr lang="en-US" dirty="0" err="1" smtClean="0">
                <a:sym typeface="Wingdings" panose="05000000000000000000" pitchFamily="2" charset="2"/>
              </a:rPr>
              <a:t>ptr</a:t>
            </a:r>
            <a:r>
              <a:rPr lang="en-US" dirty="0" smtClean="0">
                <a:sym typeface="Wingdings" panose="05000000000000000000" pitchFamily="2" charset="2"/>
              </a:rPr>
              <a:t>, </a:t>
            </a:r>
            <a:r>
              <a:rPr lang="en-US" dirty="0" err="1" smtClean="0">
                <a:sym typeface="Wingdings" panose="05000000000000000000" pitchFamily="2" charset="2"/>
              </a:rPr>
              <a:t>Ptr</a:t>
            </a:r>
            <a:r>
              <a:rPr lang="en-US" dirty="0" smtClean="0">
                <a:sym typeface="Wingdings" panose="05000000000000000000" pitchFamily="2" charset="2"/>
              </a:rPr>
              <a:t>, </a:t>
            </a:r>
            <a:r>
              <a:rPr lang="en-US" dirty="0" err="1" smtClean="0">
                <a:sym typeface="Wingdings" panose="05000000000000000000" pitchFamily="2" charset="2"/>
              </a:rPr>
              <a:t>Pptr</a:t>
            </a:r>
            <a:r>
              <a:rPr lang="en-US" dirty="0" smtClean="0">
                <a:sym typeface="Wingdings" panose="05000000000000000000" pitchFamily="2" charset="2"/>
              </a:rPr>
              <a:t> all are variables so any name or word can be use.</a:t>
            </a:r>
            <a:endParaRPr lang="en-US" dirty="0"/>
          </a:p>
        </p:txBody>
      </p:sp>
      <p:sp>
        <p:nvSpPr>
          <p:cNvPr id="24" name="Freeform 23"/>
          <p:cNvSpPr/>
          <p:nvPr/>
        </p:nvSpPr>
        <p:spPr>
          <a:xfrm>
            <a:off x="1350236" y="4358355"/>
            <a:ext cx="2179176" cy="640935"/>
          </a:xfrm>
          <a:custGeom>
            <a:avLst/>
            <a:gdLst>
              <a:gd name="connsiteX0" fmla="*/ 0 w 2155350"/>
              <a:gd name="connsiteY0" fmla="*/ 622878 h 863353"/>
              <a:gd name="connsiteX1" fmla="*/ 1136591 w 2155350"/>
              <a:gd name="connsiteY1" fmla="*/ 836523 h 863353"/>
              <a:gd name="connsiteX2" fmla="*/ 2042445 w 2155350"/>
              <a:gd name="connsiteY2" fmla="*/ 84493 h 863353"/>
              <a:gd name="connsiteX3" fmla="*/ 2110812 w 2155350"/>
              <a:gd name="connsiteY3" fmla="*/ 50310 h 86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5350" h="863353">
                <a:moveTo>
                  <a:pt x="0" y="622878"/>
                </a:moveTo>
                <a:cubicBezTo>
                  <a:pt x="398092" y="774566"/>
                  <a:pt x="796184" y="926254"/>
                  <a:pt x="1136591" y="836523"/>
                </a:cubicBezTo>
                <a:cubicBezTo>
                  <a:pt x="1476999" y="746792"/>
                  <a:pt x="1880075" y="215528"/>
                  <a:pt x="2042445" y="84493"/>
                </a:cubicBezTo>
                <a:cubicBezTo>
                  <a:pt x="2204815" y="-46542"/>
                  <a:pt x="2157813" y="1884"/>
                  <a:pt x="2110812" y="50310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25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2571</Words>
  <Application>Microsoft Office PowerPoint</Application>
  <PresentationFormat>Widescreen</PresentationFormat>
  <Paragraphs>850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 Unicode MS</vt:lpstr>
      <vt:lpstr>Arial</vt:lpstr>
      <vt:lpstr>Calibri</vt:lpstr>
      <vt:lpstr>Calibri Light</vt:lpstr>
      <vt:lpstr>Droid Sans Mono</vt:lpstr>
      <vt:lpstr>Wingdings</vt:lpstr>
      <vt:lpstr>Office Theme</vt:lpstr>
      <vt:lpstr>CSE-1st Semester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CSE-1st Semester</dc:title>
  <dc:creator>IQ</dc:creator>
  <cp:lastModifiedBy>IQ</cp:lastModifiedBy>
  <cp:revision>113</cp:revision>
  <dcterms:created xsi:type="dcterms:W3CDTF">2024-10-31T17:17:03Z</dcterms:created>
  <dcterms:modified xsi:type="dcterms:W3CDTF">2025-01-19T11:11:54Z</dcterms:modified>
</cp:coreProperties>
</file>